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5143500" cx="9144000"/>
  <p:notesSz cx="6858000" cy="9144000"/>
  <p:embeddedFontLst>
    <p:embeddedFont>
      <p:font typeface="Quantico"/>
      <p:regular r:id="rId31"/>
      <p:bold r:id="rId32"/>
      <p:italic r:id="rId33"/>
      <p:boldItalic r:id="rId34"/>
    </p:embeddedFont>
    <p:embeddedFont>
      <p:font typeface="Source Code Pro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9C19790-A5D9-4618-B8C2-A2C1B9E673F2}">
  <a:tblStyle styleId="{B9C19790-A5D9-4618-B8C2-A2C1B9E673F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Quantico-regular.fnt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Quantico-italic.fntdata"/><Relationship Id="rId10" Type="http://schemas.openxmlformats.org/officeDocument/2006/relationships/slide" Target="slides/slide5.xml"/><Relationship Id="rId32" Type="http://schemas.openxmlformats.org/officeDocument/2006/relationships/font" Target="fonts/Quantico-bold.fntdata"/><Relationship Id="rId13" Type="http://schemas.openxmlformats.org/officeDocument/2006/relationships/slide" Target="slides/slide8.xml"/><Relationship Id="rId35" Type="http://schemas.openxmlformats.org/officeDocument/2006/relationships/font" Target="fonts/SourceCodePro-regular.fntdata"/><Relationship Id="rId12" Type="http://schemas.openxmlformats.org/officeDocument/2006/relationships/slide" Target="slides/slide7.xml"/><Relationship Id="rId34" Type="http://schemas.openxmlformats.org/officeDocument/2006/relationships/font" Target="fonts/Quantico-boldItalic.fntdata"/><Relationship Id="rId15" Type="http://schemas.openxmlformats.org/officeDocument/2006/relationships/slide" Target="slides/slide10.xml"/><Relationship Id="rId37" Type="http://schemas.openxmlformats.org/officeDocument/2006/relationships/font" Target="fonts/SourceCodePro-italic.fntdata"/><Relationship Id="rId14" Type="http://schemas.openxmlformats.org/officeDocument/2006/relationships/slide" Target="slides/slide9.xml"/><Relationship Id="rId36" Type="http://schemas.openxmlformats.org/officeDocument/2006/relationships/font" Target="fonts/SourceCodePro-bold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schemas.openxmlformats.org/officeDocument/2006/relationships/font" Target="fonts/SourceCodePro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4759bac4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a4759bac4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a4759bac4e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a4759bac4e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5c431c3091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25c431c3091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a4759bac4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a4759bac4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a4759bac4e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a4759bac4e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a4759bac4e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a4759bac4e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5c431c3091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25c431c3091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90ef35fc1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90ef35fc1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90ef35fc1b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90ef35fc1b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a67b6e34f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a67b6e34f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a4759bac4e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a4759bac4e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5c431c3091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25c431c3091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90ef35fc1b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90ef35fc1b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90ef35fc1b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90ef35fc1b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90ef35fc1b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90ef35fc1b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90ef35fc1b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90ef35fc1b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90ef35fc1b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90ef35fc1b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90ef35fc1b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90ef35fc1b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a better alternative search about unknown type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a67b6e34f9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a67b6e34f9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a67b6e34f9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a67b6e34f9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a4759bac4e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a4759bac4e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90ef35fc1b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90ef35fc1b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Top-Down:</a:t>
            </a:r>
            <a:r>
              <a:rPr lang="en">
                <a:solidFill>
                  <a:schemeClr val="dk1"/>
                </a:solidFill>
              </a:rPr>
              <a:t> Start from the full shape and break down.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Bottom-Up:</a:t>
            </a:r>
            <a:r>
              <a:rPr lang="en">
                <a:solidFill>
                  <a:schemeClr val="dk1"/>
                </a:solidFill>
              </a:rPr>
              <a:t> Start from reusable small types and build up.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a67b6e34f9_1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a67b6e34f9_1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90ef35fc1b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90ef35fc1b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a67b6e34f9_1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a67b6e34f9_1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-100" y="0"/>
            <a:ext cx="9144000" cy="414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" name="Google Shape;10;p2"/>
          <p:cNvSpPr txBox="1"/>
          <p:nvPr>
            <p:ph type="ctrTitle"/>
          </p:nvPr>
        </p:nvSpPr>
        <p:spPr>
          <a:xfrm>
            <a:off x="2062200" y="1289175"/>
            <a:ext cx="5019600" cy="1809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050100" y="3617700"/>
            <a:ext cx="3043800" cy="71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/>
        </p:nvSpPr>
        <p:spPr>
          <a:xfrm>
            <a:off x="344300" y="4753684"/>
            <a:ext cx="8478600" cy="1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1 0 1 1   0 1 1   0 1   1 0 1 1 0 0 1   1 0   1 1 0 1 1   0 1 1   0 1   1 1 0 1 1 0   1 1 0 1 1 1   1 1 0 1 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1186988" y="1906688"/>
            <a:ext cx="3943500" cy="111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hasCustomPrompt="1" idx="2" type="title"/>
          </p:nvPr>
        </p:nvSpPr>
        <p:spPr>
          <a:xfrm>
            <a:off x="5731913" y="1906688"/>
            <a:ext cx="2225100" cy="111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6" name="Google Shape;16;p3"/>
          <p:cNvSpPr txBox="1"/>
          <p:nvPr/>
        </p:nvSpPr>
        <p:spPr>
          <a:xfrm>
            <a:off x="344300" y="4753684"/>
            <a:ext cx="8478600" cy="1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1 0 1 1   0 1 1   0 1   1 0 1 1 0 0 1   1 0   1 1 0 1 1   0 1 1   0 1   1 1 0 1 1 0   1 1 0 1 1 1   1 1 0 1 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11575" y="0"/>
            <a:ext cx="3048600" cy="41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3059300" y="0"/>
            <a:ext cx="6084600" cy="414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720000" y="539500"/>
            <a:ext cx="7704000" cy="99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720000" y="1809700"/>
            <a:ext cx="7704000" cy="25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/>
        </p:nvSpPr>
        <p:spPr>
          <a:xfrm>
            <a:off x="344300" y="4753684"/>
            <a:ext cx="8478600" cy="1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1 0 1 1   0 1 1   0 1   1 0 1 1 0 0 1   1 0   1 1 0 1 1   0 1 1   0 1   1 1 0 1 1 0   1 1 0 1 1 1   1 1 0 1 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oogle Shape;24;p5"/>
          <p:cNvGrpSpPr/>
          <p:nvPr/>
        </p:nvGrpSpPr>
        <p:grpSpPr>
          <a:xfrm>
            <a:off x="396500" y="170424"/>
            <a:ext cx="8360126" cy="4398447"/>
            <a:chOff x="1054783" y="1029605"/>
            <a:chExt cx="7587010" cy="3902100"/>
          </a:xfrm>
        </p:grpSpPr>
        <p:sp>
          <p:nvSpPr>
            <p:cNvPr id="25" name="Google Shape;25;p5"/>
            <p:cNvSpPr/>
            <p:nvPr/>
          </p:nvSpPr>
          <p:spPr>
            <a:xfrm>
              <a:off x="1054793" y="1029605"/>
              <a:ext cx="7587000" cy="39021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5"/>
            <p:cNvSpPr/>
            <p:nvPr/>
          </p:nvSpPr>
          <p:spPr>
            <a:xfrm>
              <a:off x="1054783" y="1029605"/>
              <a:ext cx="7587000" cy="226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" name="Google Shape;27;p5"/>
          <p:cNvSpPr txBox="1"/>
          <p:nvPr>
            <p:ph idx="1" type="subTitle"/>
          </p:nvPr>
        </p:nvSpPr>
        <p:spPr>
          <a:xfrm>
            <a:off x="807625" y="2775700"/>
            <a:ext cx="3415800" cy="149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2" type="subTitle"/>
          </p:nvPr>
        </p:nvSpPr>
        <p:spPr>
          <a:xfrm>
            <a:off x="4922022" y="2775700"/>
            <a:ext cx="3415800" cy="149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3" type="subTitle"/>
          </p:nvPr>
        </p:nvSpPr>
        <p:spPr>
          <a:xfrm>
            <a:off x="807630" y="2403350"/>
            <a:ext cx="3415800" cy="42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Quantico"/>
              <a:buNone/>
              <a:defRPr sz="2200">
                <a:latin typeface="Quantico"/>
                <a:ea typeface="Quantico"/>
                <a:cs typeface="Quantico"/>
                <a:sym typeface="Quantic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Quantico"/>
              <a:buNone/>
              <a:defRPr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Quantico"/>
              <a:buNone/>
              <a:defRPr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Quantico"/>
              <a:buNone/>
              <a:defRPr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Quantico"/>
              <a:buNone/>
              <a:defRPr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Quantico"/>
              <a:buNone/>
              <a:defRPr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Quantico"/>
              <a:buNone/>
              <a:defRPr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Quantico"/>
              <a:buNone/>
              <a:defRPr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Quantico"/>
              <a:buNone/>
              <a:defRPr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4" type="subTitle"/>
          </p:nvPr>
        </p:nvSpPr>
        <p:spPr>
          <a:xfrm>
            <a:off x="4922022" y="2403350"/>
            <a:ext cx="3415800" cy="42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Quantico"/>
              <a:buNone/>
              <a:defRPr sz="2200">
                <a:latin typeface="Quantico"/>
                <a:ea typeface="Quantico"/>
                <a:cs typeface="Quantico"/>
                <a:sym typeface="Quantic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Quantico"/>
              <a:buNone/>
              <a:defRPr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Quantico"/>
              <a:buNone/>
              <a:defRPr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Quantico"/>
              <a:buNone/>
              <a:defRPr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Quantico"/>
              <a:buNone/>
              <a:defRPr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Quantico"/>
              <a:buNone/>
              <a:defRPr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Quantico"/>
              <a:buNone/>
              <a:defRPr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Quantico"/>
              <a:buNone/>
              <a:defRPr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Quantico"/>
              <a:buNone/>
              <a:defRPr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1" name="Google Shape;31;p5"/>
          <p:cNvSpPr txBox="1"/>
          <p:nvPr>
            <p:ph type="title"/>
          </p:nvPr>
        </p:nvSpPr>
        <p:spPr>
          <a:xfrm>
            <a:off x="719988" y="459128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/>
        </p:nvSpPr>
        <p:spPr>
          <a:xfrm>
            <a:off x="344300" y="4753684"/>
            <a:ext cx="8478600" cy="1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1 0 1 1   0 1 1   0 1   1 0 1 1 0 0 1   1 0   1 1 0 1 1   0 1 1   0 1   1 1 0 1 1 0   1 1 0 1 1 1   1 1 0 1 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720000" y="539500"/>
            <a:ext cx="77040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oogle Shape;36;p7"/>
          <p:cNvGrpSpPr/>
          <p:nvPr/>
        </p:nvGrpSpPr>
        <p:grpSpPr>
          <a:xfrm>
            <a:off x="396500" y="170424"/>
            <a:ext cx="8360126" cy="4398447"/>
            <a:chOff x="1054783" y="1029605"/>
            <a:chExt cx="7587010" cy="3902100"/>
          </a:xfrm>
        </p:grpSpPr>
        <p:sp>
          <p:nvSpPr>
            <p:cNvPr id="37" name="Google Shape;37;p7"/>
            <p:cNvSpPr/>
            <p:nvPr/>
          </p:nvSpPr>
          <p:spPr>
            <a:xfrm>
              <a:off x="1054793" y="1029605"/>
              <a:ext cx="7587000" cy="39021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7"/>
            <p:cNvSpPr/>
            <p:nvPr/>
          </p:nvSpPr>
          <p:spPr>
            <a:xfrm>
              <a:off x="1054783" y="1029605"/>
              <a:ext cx="7587000" cy="226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7"/>
          <p:cNvSpPr txBox="1"/>
          <p:nvPr>
            <p:ph type="title"/>
          </p:nvPr>
        </p:nvSpPr>
        <p:spPr>
          <a:xfrm>
            <a:off x="720000" y="475500"/>
            <a:ext cx="7704000" cy="55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720000" y="1244275"/>
            <a:ext cx="3692400" cy="29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AutoNum type="arabicPeriod"/>
              <a:defRPr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/>
        </p:txBody>
      </p:sp>
      <p:sp>
        <p:nvSpPr>
          <p:cNvPr id="41" name="Google Shape;41;p7"/>
          <p:cNvSpPr txBox="1"/>
          <p:nvPr/>
        </p:nvSpPr>
        <p:spPr>
          <a:xfrm>
            <a:off x="344300" y="4753684"/>
            <a:ext cx="8478600" cy="1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1 0 1 1   0 1 1   0 1   1 0 1 1 0 0 1   1 0   1 1 0 1 1   0 1 1   0 1   1 1 0 1 1 0   1 1 0 1 1 1   1 1 0 1 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oogle Shape;43;p8"/>
          <p:cNvGrpSpPr/>
          <p:nvPr/>
        </p:nvGrpSpPr>
        <p:grpSpPr>
          <a:xfrm>
            <a:off x="396500" y="170424"/>
            <a:ext cx="8360126" cy="4398447"/>
            <a:chOff x="1054783" y="1029605"/>
            <a:chExt cx="7587010" cy="3902100"/>
          </a:xfrm>
        </p:grpSpPr>
        <p:sp>
          <p:nvSpPr>
            <p:cNvPr id="44" name="Google Shape;44;p8"/>
            <p:cNvSpPr/>
            <p:nvPr/>
          </p:nvSpPr>
          <p:spPr>
            <a:xfrm>
              <a:off x="1054793" y="1029605"/>
              <a:ext cx="7587000" cy="39021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8"/>
            <p:cNvSpPr/>
            <p:nvPr/>
          </p:nvSpPr>
          <p:spPr>
            <a:xfrm>
              <a:off x="1054783" y="1029605"/>
              <a:ext cx="7587000" cy="226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8"/>
          <p:cNvSpPr txBox="1"/>
          <p:nvPr/>
        </p:nvSpPr>
        <p:spPr>
          <a:xfrm>
            <a:off x="344300" y="4753684"/>
            <a:ext cx="8478600" cy="1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1 0 1 1   0 1 1   0 1   1 0 1 1 0 0 1   1 0   1 1 0 1 1   0 1 1   0 1   1 1 0 1 1 0   1 1 0 1 1 1   1 1 0 1 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47" name="Google Shape;47;p8"/>
          <p:cNvSpPr txBox="1"/>
          <p:nvPr>
            <p:ph type="title"/>
          </p:nvPr>
        </p:nvSpPr>
        <p:spPr>
          <a:xfrm>
            <a:off x="2801700" y="1918054"/>
            <a:ext cx="5622300" cy="247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9"/>
          <p:cNvGrpSpPr/>
          <p:nvPr/>
        </p:nvGrpSpPr>
        <p:grpSpPr>
          <a:xfrm>
            <a:off x="396500" y="170424"/>
            <a:ext cx="8360126" cy="4398447"/>
            <a:chOff x="1054783" y="1029605"/>
            <a:chExt cx="7587010" cy="3902100"/>
          </a:xfrm>
        </p:grpSpPr>
        <p:sp>
          <p:nvSpPr>
            <p:cNvPr id="50" name="Google Shape;50;p9"/>
            <p:cNvSpPr/>
            <p:nvPr/>
          </p:nvSpPr>
          <p:spPr>
            <a:xfrm>
              <a:off x="1054793" y="1029605"/>
              <a:ext cx="7587000" cy="39021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9"/>
            <p:cNvSpPr/>
            <p:nvPr/>
          </p:nvSpPr>
          <p:spPr>
            <a:xfrm>
              <a:off x="1054783" y="1029605"/>
              <a:ext cx="7587000" cy="226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9"/>
          <p:cNvSpPr txBox="1"/>
          <p:nvPr/>
        </p:nvSpPr>
        <p:spPr>
          <a:xfrm>
            <a:off x="344300" y="4753684"/>
            <a:ext cx="8478600" cy="1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1 0 1 1   0 1 1   0 1   1 0 1 1 0 0 1   1 0   1 1 0 1 1   0 1 1   0 1   1 1 0 1 1 0   1 1 0 1 1 1   1 1 0 1 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53" name="Google Shape;53;p9"/>
          <p:cNvSpPr txBox="1"/>
          <p:nvPr>
            <p:ph type="title"/>
          </p:nvPr>
        </p:nvSpPr>
        <p:spPr>
          <a:xfrm rot="515">
            <a:off x="2406900" y="1623064"/>
            <a:ext cx="6006600" cy="60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4" name="Google Shape;54;p9"/>
          <p:cNvSpPr txBox="1"/>
          <p:nvPr>
            <p:ph idx="1" type="subTitle"/>
          </p:nvPr>
        </p:nvSpPr>
        <p:spPr>
          <a:xfrm>
            <a:off x="3658200" y="2303046"/>
            <a:ext cx="4755300" cy="14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10"/>
          <p:cNvGrpSpPr/>
          <p:nvPr/>
        </p:nvGrpSpPr>
        <p:grpSpPr>
          <a:xfrm>
            <a:off x="396500" y="170424"/>
            <a:ext cx="8360126" cy="4398447"/>
            <a:chOff x="1054783" y="1029605"/>
            <a:chExt cx="7587010" cy="3902100"/>
          </a:xfrm>
        </p:grpSpPr>
        <p:sp>
          <p:nvSpPr>
            <p:cNvPr id="57" name="Google Shape;57;p10"/>
            <p:cNvSpPr/>
            <p:nvPr/>
          </p:nvSpPr>
          <p:spPr>
            <a:xfrm>
              <a:off x="1054793" y="1029605"/>
              <a:ext cx="7587000" cy="39021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10"/>
            <p:cNvSpPr/>
            <p:nvPr/>
          </p:nvSpPr>
          <p:spPr>
            <a:xfrm>
              <a:off x="1054783" y="1029605"/>
              <a:ext cx="7587000" cy="226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10"/>
          <p:cNvSpPr txBox="1"/>
          <p:nvPr/>
        </p:nvSpPr>
        <p:spPr>
          <a:xfrm>
            <a:off x="344300" y="4753684"/>
            <a:ext cx="8478600" cy="1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1 0 1 1   0 1 1   0 1   1 0 1 1 0 0 1   1 0   1 1 0 1 1   0 1 1   0 1   1 1 0 1 1 0   1 1 0 1 1 1   1 1 0 1 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60" name="Google Shape;60;p10"/>
          <p:cNvSpPr txBox="1"/>
          <p:nvPr>
            <p:ph type="title"/>
          </p:nvPr>
        </p:nvSpPr>
        <p:spPr>
          <a:xfrm>
            <a:off x="720000" y="2233875"/>
            <a:ext cx="7704000" cy="6153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hasCustomPrompt="1" type="title"/>
          </p:nvPr>
        </p:nvSpPr>
        <p:spPr>
          <a:xfrm>
            <a:off x="3030250" y="1291525"/>
            <a:ext cx="4711500" cy="119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63" name="Google Shape;63;p11"/>
          <p:cNvSpPr txBox="1"/>
          <p:nvPr>
            <p:ph idx="1" type="subTitle"/>
          </p:nvPr>
        </p:nvSpPr>
        <p:spPr>
          <a:xfrm>
            <a:off x="4173275" y="3581850"/>
            <a:ext cx="3169800" cy="67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64" name="Google Shape;64;p11"/>
          <p:cNvSpPr txBox="1"/>
          <p:nvPr/>
        </p:nvSpPr>
        <p:spPr>
          <a:xfrm>
            <a:off x="344300" y="4753684"/>
            <a:ext cx="8478600" cy="1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1 0 1 1   0 1 1   0 1   1 0 1 1 0 0 1   1 0   1 1 0 1 1   0 1 1   0 1   1 1 0 1 1 0   1 1 0 1 1 1   1 1 0 1 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65" name="Google Shape;65;p11"/>
          <p:cNvSpPr/>
          <p:nvPr/>
        </p:nvSpPr>
        <p:spPr>
          <a:xfrm>
            <a:off x="11575" y="0"/>
            <a:ext cx="3048600" cy="41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1"/>
          <p:cNvSpPr/>
          <p:nvPr/>
        </p:nvSpPr>
        <p:spPr>
          <a:xfrm>
            <a:off x="3059300" y="0"/>
            <a:ext cx="6084600" cy="414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b="1" sz="33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b="1" sz="33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b="1" sz="33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b="1" sz="33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b="1" sz="33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b="1" sz="33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b="1" sz="33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b="1" sz="33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Code Pro"/>
              <a:buChar char="●"/>
              <a:defRPr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Code Pro"/>
              <a:buChar char="○"/>
              <a:defRPr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Code Pro"/>
              <a:buChar char="■"/>
              <a:defRPr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Code Pro"/>
              <a:buChar char="●"/>
              <a:defRPr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Code Pro"/>
              <a:buChar char="○"/>
              <a:defRPr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Code Pro"/>
              <a:buChar char="■"/>
              <a:defRPr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Code Pro"/>
              <a:buChar char="●"/>
              <a:defRPr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Code Pro"/>
              <a:buChar char="○"/>
              <a:defRPr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Code Pro"/>
              <a:buChar char="■"/>
              <a:defRPr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/>
          <p:nvPr>
            <p:ph type="ctrTitle"/>
          </p:nvPr>
        </p:nvSpPr>
        <p:spPr>
          <a:xfrm>
            <a:off x="1312200" y="2566850"/>
            <a:ext cx="6519600" cy="180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solidFill>
                  <a:srgbClr val="4A86E8"/>
                </a:solidFill>
              </a:rPr>
              <a:t>TypeScript</a:t>
            </a:r>
            <a:r>
              <a:rPr lang="en" sz="4400"/>
              <a:t> in a </a:t>
            </a:r>
            <a:r>
              <a:rPr lang="en" sz="4400">
                <a:solidFill>
                  <a:srgbClr val="FFFF00"/>
                </a:solidFill>
              </a:rPr>
              <a:t>nut</a:t>
            </a:r>
            <a:r>
              <a:rPr lang="en" sz="4400">
                <a:solidFill>
                  <a:srgbClr val="4A86E8"/>
                </a:solidFill>
              </a:rPr>
              <a:t>shell</a:t>
            </a:r>
            <a:endParaRPr sz="4400">
              <a:solidFill>
                <a:srgbClr val="4A86E8"/>
              </a:solidFill>
            </a:endParaRPr>
          </a:p>
        </p:txBody>
      </p:sp>
      <p:sp>
        <p:nvSpPr>
          <p:cNvPr id="73" name="Google Shape;73;p13"/>
          <p:cNvSpPr txBox="1"/>
          <p:nvPr/>
        </p:nvSpPr>
        <p:spPr>
          <a:xfrm>
            <a:off x="269400" y="917625"/>
            <a:ext cx="86052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Welcome to your first Session in Level 2</a:t>
            </a:r>
            <a:endParaRPr sz="4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 txBox="1"/>
          <p:nvPr>
            <p:ph type="title"/>
          </p:nvPr>
        </p:nvSpPr>
        <p:spPr>
          <a:xfrm>
            <a:off x="1401300" y="2110050"/>
            <a:ext cx="6341400" cy="92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Who here hates </a:t>
            </a:r>
            <a:r>
              <a:rPr lang="en">
                <a:solidFill>
                  <a:srgbClr val="FFFF00"/>
                </a:solidFill>
              </a:rPr>
              <a:t>JS</a:t>
            </a:r>
            <a:r>
              <a:rPr lang="en"/>
              <a:t>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720000" y="539500"/>
            <a:ext cx="7704000" cy="99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&lt;/ JS </a:t>
            </a:r>
            <a:r>
              <a:rPr lang="en"/>
              <a:t>development:</a:t>
            </a:r>
            <a:endParaRPr/>
          </a:p>
        </p:txBody>
      </p:sp>
      <p:sp>
        <p:nvSpPr>
          <p:cNvPr id="84" name="Google Shape;84;p15"/>
          <p:cNvSpPr txBox="1"/>
          <p:nvPr>
            <p:ph idx="1" type="body"/>
          </p:nvPr>
        </p:nvSpPr>
        <p:spPr>
          <a:xfrm>
            <a:off x="720000" y="1536100"/>
            <a:ext cx="7704000" cy="285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50">
                <a:solidFill>
                  <a:srgbClr val="FFFF00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JavaScript </a:t>
            </a:r>
            <a:r>
              <a:rPr lang="en" sz="2650"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is awesome for building things, but it can get chaotic. Suddenly you’re debugging for hours, and the bug? Something </a:t>
            </a:r>
            <a:r>
              <a:rPr lang="en" sz="2650">
                <a:solidFill>
                  <a:srgbClr val="FFFF00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JS </a:t>
            </a:r>
            <a:r>
              <a:rPr lang="en" sz="2650"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didn’t warn you about until it exploded at runtime.</a:t>
            </a:r>
            <a:endParaRPr sz="4400">
              <a:highlight>
                <a:schemeClr val="lt1"/>
              </a:highlight>
              <a:latin typeface="Quantico"/>
              <a:ea typeface="Quantico"/>
              <a:cs typeface="Quantico"/>
              <a:sym typeface="Quantic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 txBox="1"/>
          <p:nvPr/>
        </p:nvSpPr>
        <p:spPr>
          <a:xfrm>
            <a:off x="998250" y="2179200"/>
            <a:ext cx="71475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How was this problem fixed?</a:t>
            </a:r>
            <a:endParaRPr sz="4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 txBox="1"/>
          <p:nvPr>
            <p:ph type="title"/>
          </p:nvPr>
        </p:nvSpPr>
        <p:spPr>
          <a:xfrm>
            <a:off x="720000" y="539500"/>
            <a:ext cx="77040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A86E8"/>
                </a:solidFill>
              </a:rPr>
              <a:t>&lt;/</a:t>
            </a:r>
            <a:r>
              <a:rPr lang="en">
                <a:solidFill>
                  <a:srgbClr val="4A86E8"/>
                </a:solidFill>
              </a:rPr>
              <a:t> TypeScript</a:t>
            </a:r>
            <a:r>
              <a:rPr lang="en"/>
              <a:t> was the answer</a:t>
            </a:r>
            <a:endParaRPr/>
          </a:p>
        </p:txBody>
      </p:sp>
      <p:sp>
        <p:nvSpPr>
          <p:cNvPr id="95" name="Google Shape;95;p17"/>
          <p:cNvSpPr txBox="1"/>
          <p:nvPr/>
        </p:nvSpPr>
        <p:spPr>
          <a:xfrm>
            <a:off x="842700" y="1496400"/>
            <a:ext cx="7458600" cy="31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Microsoft introduced </a:t>
            </a:r>
            <a:r>
              <a:rPr lang="en" sz="2600">
                <a:solidFill>
                  <a:srgbClr val="4A86E8"/>
                </a:solidFill>
                <a:latin typeface="Quantico"/>
                <a:ea typeface="Quantico"/>
                <a:cs typeface="Quantico"/>
                <a:sym typeface="Quantico"/>
              </a:rPr>
              <a:t>TypeScript </a:t>
            </a:r>
            <a:r>
              <a:rPr lang="en" sz="26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as a solution:</a:t>
            </a:r>
            <a:endParaRPr sz="26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-3937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Quantico"/>
              <a:buChar char="●"/>
            </a:pPr>
            <a:r>
              <a:rPr lang="en" sz="26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Code is safe and type annotated</a:t>
            </a:r>
            <a:endParaRPr sz="26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-3937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Quantico"/>
              <a:buChar char="●"/>
            </a:pPr>
            <a:r>
              <a:rPr lang="en" sz="26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Bugs appear early in compile time</a:t>
            </a:r>
            <a:endParaRPr sz="26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-3937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Quantico"/>
              <a:buChar char="●"/>
            </a:pPr>
            <a:r>
              <a:rPr lang="en" sz="26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Autocomplete is provided</a:t>
            </a:r>
            <a:endParaRPr sz="26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-3937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Quantico"/>
              <a:buChar char="●"/>
            </a:pPr>
            <a:r>
              <a:rPr lang="en" sz="26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M</a:t>
            </a:r>
            <a:r>
              <a:rPr lang="en" sz="26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aintaining</a:t>
            </a:r>
            <a:r>
              <a:rPr lang="en" sz="26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Large projects became easier.</a:t>
            </a:r>
            <a:endParaRPr sz="26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 txBox="1"/>
          <p:nvPr/>
        </p:nvSpPr>
        <p:spPr>
          <a:xfrm>
            <a:off x="1001100" y="2171550"/>
            <a:ext cx="7141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What is </a:t>
            </a:r>
            <a:r>
              <a:rPr lang="en" sz="4000">
                <a:solidFill>
                  <a:srgbClr val="4A86E8"/>
                </a:solidFill>
                <a:latin typeface="Quantico"/>
                <a:ea typeface="Quantico"/>
                <a:cs typeface="Quantico"/>
                <a:sym typeface="Quantico"/>
              </a:rPr>
              <a:t>TypeScript</a:t>
            </a:r>
            <a:r>
              <a:rPr lang="en" sz="4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?</a:t>
            </a:r>
            <a:endParaRPr sz="4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/>
          <p:nvPr>
            <p:ph type="title"/>
          </p:nvPr>
        </p:nvSpPr>
        <p:spPr>
          <a:xfrm>
            <a:off x="720000" y="539500"/>
            <a:ext cx="77040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A86E8"/>
                </a:solidFill>
              </a:rPr>
              <a:t>&lt;/</a:t>
            </a:r>
            <a:r>
              <a:rPr lang="en"/>
              <a:t> </a:t>
            </a:r>
            <a:r>
              <a:rPr lang="en">
                <a:solidFill>
                  <a:srgbClr val="4A86E8"/>
                </a:solidFill>
                <a:highlight>
                  <a:schemeClr val="lt1"/>
                </a:highlight>
              </a:rPr>
              <a:t>TypeScript</a:t>
            </a:r>
            <a:r>
              <a:rPr lang="en"/>
              <a:t>, </a:t>
            </a:r>
            <a:r>
              <a:rPr lang="en">
                <a:solidFill>
                  <a:srgbClr val="FFFF00"/>
                </a:solidFill>
              </a:rPr>
              <a:t>JavaScript</a:t>
            </a:r>
            <a:r>
              <a:rPr lang="en"/>
              <a:t>’s cousin</a:t>
            </a:r>
            <a:endParaRPr/>
          </a:p>
        </p:txBody>
      </p:sp>
      <p:sp>
        <p:nvSpPr>
          <p:cNvPr id="106" name="Google Shape;106;p19"/>
          <p:cNvSpPr txBox="1"/>
          <p:nvPr/>
        </p:nvSpPr>
        <p:spPr>
          <a:xfrm>
            <a:off x="883200" y="1419975"/>
            <a:ext cx="6863400" cy="34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4A86E8"/>
                </a:solidFill>
                <a:latin typeface="Quantico"/>
                <a:ea typeface="Quantico"/>
                <a:cs typeface="Quantico"/>
                <a:sym typeface="Quantico"/>
              </a:rPr>
              <a:t>TypeScript </a:t>
            </a:r>
            <a:r>
              <a:rPr lang="en" sz="26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is a superset of </a:t>
            </a:r>
            <a:r>
              <a:rPr lang="en" sz="2600">
                <a:solidFill>
                  <a:srgbClr val="FFFF00"/>
                </a:solidFill>
                <a:latin typeface="Quantico"/>
                <a:ea typeface="Quantico"/>
                <a:cs typeface="Quantico"/>
                <a:sym typeface="Quantico"/>
              </a:rPr>
              <a:t>JavaScript</a:t>
            </a:r>
            <a:r>
              <a:rPr lang="en" sz="26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,</a:t>
            </a:r>
            <a:endParaRPr sz="26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Where it includes static types, and is strongly typed, and can also be loosely typed.</a:t>
            </a:r>
            <a:endParaRPr sz="26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4A86E8"/>
                </a:solidFill>
                <a:latin typeface="Quantico"/>
                <a:ea typeface="Quantico"/>
                <a:cs typeface="Quantico"/>
                <a:sym typeface="Quantico"/>
              </a:rPr>
              <a:t>TypeScript </a:t>
            </a:r>
            <a:r>
              <a:rPr lang="en" sz="26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is also not “Compiled” but rather Transpiled – converted into </a:t>
            </a:r>
            <a:r>
              <a:rPr lang="en" sz="2600">
                <a:solidFill>
                  <a:srgbClr val="FFFF00"/>
                </a:solidFill>
                <a:latin typeface="Quantico"/>
                <a:ea typeface="Quantico"/>
                <a:cs typeface="Quantico"/>
                <a:sym typeface="Quantico"/>
              </a:rPr>
              <a:t>JavaScript </a:t>
            </a:r>
            <a:r>
              <a:rPr lang="en" sz="26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code, but why?</a:t>
            </a:r>
            <a:endParaRPr sz="26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/>
          <p:nvPr>
            <p:ph type="title"/>
          </p:nvPr>
        </p:nvSpPr>
        <p:spPr>
          <a:xfrm>
            <a:off x="720000" y="228275"/>
            <a:ext cx="77040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A86E8"/>
                </a:solidFill>
              </a:rPr>
              <a:t>&lt;/</a:t>
            </a:r>
            <a:r>
              <a:rPr lang="en"/>
              <a:t> </a:t>
            </a:r>
            <a:r>
              <a:rPr lang="en">
                <a:highlight>
                  <a:schemeClr val="lt1"/>
                </a:highlight>
              </a:rPr>
              <a:t>Quick fact</a:t>
            </a:r>
            <a:endParaRPr/>
          </a:p>
        </p:txBody>
      </p:sp>
      <p:sp>
        <p:nvSpPr>
          <p:cNvPr id="112" name="Google Shape;112;p20"/>
          <p:cNvSpPr txBox="1"/>
          <p:nvPr/>
        </p:nvSpPr>
        <p:spPr>
          <a:xfrm>
            <a:off x="883200" y="1005000"/>
            <a:ext cx="6863400" cy="34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When </a:t>
            </a:r>
            <a:r>
              <a:rPr lang="en">
                <a:solidFill>
                  <a:srgbClr val="4A86E8"/>
                </a:solidFill>
                <a:latin typeface="Quantico"/>
                <a:ea typeface="Quantico"/>
                <a:cs typeface="Quantico"/>
                <a:sym typeface="Quantico"/>
              </a:rPr>
              <a:t>TypeScript </a:t>
            </a:r>
            <a:r>
              <a:rPr lang="en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was created, no browser or runtime could execute </a:t>
            </a:r>
            <a:r>
              <a:rPr lang="en">
                <a:solidFill>
                  <a:srgbClr val="4A86E8"/>
                </a:solidFill>
                <a:latin typeface="Quantico"/>
                <a:ea typeface="Quantico"/>
                <a:cs typeface="Quantico"/>
                <a:sym typeface="Quantico"/>
              </a:rPr>
              <a:t>TypeScript </a:t>
            </a:r>
            <a:r>
              <a:rPr lang="en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directly.</a:t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So </a:t>
            </a:r>
            <a:r>
              <a:rPr lang="en">
                <a:solidFill>
                  <a:srgbClr val="4A86E8"/>
                </a:solidFill>
                <a:latin typeface="Quantico"/>
                <a:ea typeface="Quantico"/>
                <a:cs typeface="Quantico"/>
                <a:sym typeface="Quantico"/>
              </a:rPr>
              <a:t>TypeScript </a:t>
            </a:r>
            <a:r>
              <a:rPr lang="en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had two choices:</a:t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Option A:</a:t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Create a new runtime or virtual machine that understands </a:t>
            </a:r>
            <a:r>
              <a:rPr lang="en">
                <a:solidFill>
                  <a:srgbClr val="4A86E8"/>
                </a:solidFill>
                <a:latin typeface="Quantico"/>
                <a:ea typeface="Quantico"/>
                <a:cs typeface="Quantico"/>
                <a:sym typeface="Quantico"/>
              </a:rPr>
              <a:t>TypeScript </a:t>
            </a:r>
            <a:r>
              <a:rPr lang="en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→ Not practical.</a:t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It would break compatibility with the entire </a:t>
            </a:r>
            <a:r>
              <a:rPr lang="en">
                <a:solidFill>
                  <a:srgbClr val="FFFF00"/>
                </a:solidFill>
                <a:latin typeface="Quantico"/>
                <a:ea typeface="Quantico"/>
                <a:cs typeface="Quantico"/>
                <a:sym typeface="Quantico"/>
              </a:rPr>
              <a:t>JS </a:t>
            </a:r>
            <a:r>
              <a:rPr lang="en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ecosystem.</a:t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Option B:</a:t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Compile </a:t>
            </a:r>
            <a:r>
              <a:rPr lang="en">
                <a:solidFill>
                  <a:srgbClr val="4A86E8"/>
                </a:solidFill>
                <a:latin typeface="Quantico"/>
                <a:ea typeface="Quantico"/>
                <a:cs typeface="Quantico"/>
                <a:sym typeface="Quantico"/>
              </a:rPr>
              <a:t>TypeScript </a:t>
            </a:r>
            <a:r>
              <a:rPr lang="en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into </a:t>
            </a:r>
            <a:r>
              <a:rPr lang="en">
                <a:solidFill>
                  <a:srgbClr val="FFFF00"/>
                </a:solidFill>
                <a:latin typeface="Quantico"/>
                <a:ea typeface="Quantico"/>
                <a:cs typeface="Quantico"/>
                <a:sym typeface="Quantico"/>
              </a:rPr>
              <a:t>JavaScript</a:t>
            </a:r>
            <a:r>
              <a:rPr lang="en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, which browsers already understand.</a:t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A86E8"/>
                </a:solidFill>
                <a:latin typeface="Quantico"/>
                <a:ea typeface="Quantico"/>
                <a:cs typeface="Quantico"/>
                <a:sym typeface="Quantico"/>
              </a:rPr>
              <a:t>TypeScript </a:t>
            </a:r>
            <a:r>
              <a:rPr lang="en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chose 100% compatibility with existing </a:t>
            </a:r>
            <a:r>
              <a:rPr lang="en">
                <a:solidFill>
                  <a:srgbClr val="FFFF00"/>
                </a:solidFill>
                <a:latin typeface="Quantico"/>
                <a:ea typeface="Quantico"/>
                <a:cs typeface="Quantico"/>
                <a:sym typeface="Quantico"/>
              </a:rPr>
              <a:t>JavaScript </a:t>
            </a:r>
            <a:r>
              <a:rPr lang="en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engines, so it had to be transpiled.</a:t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/>
          <p:nvPr>
            <p:ph type="title"/>
          </p:nvPr>
        </p:nvSpPr>
        <p:spPr>
          <a:xfrm>
            <a:off x="720000" y="228275"/>
            <a:ext cx="77040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A86E8"/>
                </a:solidFill>
              </a:rPr>
              <a:t>&lt;/</a:t>
            </a:r>
            <a:r>
              <a:rPr lang="en"/>
              <a:t> </a:t>
            </a:r>
            <a:r>
              <a:rPr lang="en">
                <a:highlight>
                  <a:schemeClr val="lt1"/>
                </a:highlight>
              </a:rPr>
              <a:t>Dynamic vs Static Typing</a:t>
            </a:r>
            <a:endParaRPr/>
          </a:p>
        </p:txBody>
      </p:sp>
      <p:sp>
        <p:nvSpPr>
          <p:cNvPr id="118" name="Google Shape;118;p21"/>
          <p:cNvSpPr txBox="1"/>
          <p:nvPr/>
        </p:nvSpPr>
        <p:spPr>
          <a:xfrm>
            <a:off x="883200" y="1005000"/>
            <a:ext cx="6863400" cy="34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0F6FC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Dynamic typing means type checking happens at runtime, not during compilation. (e.g. Python, JavaScript)</a:t>
            </a:r>
            <a:endParaRPr sz="2400">
              <a:solidFill>
                <a:srgbClr val="F0F6FC"/>
              </a:solidFill>
              <a:highlight>
                <a:schemeClr val="lt1"/>
              </a:highlight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0F6FC"/>
              </a:solidFill>
              <a:highlight>
                <a:schemeClr val="lt1"/>
              </a:highlight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400">
                <a:solidFill>
                  <a:srgbClr val="F0F6FC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While static typing is that the type checking happens during writing code, so errors appear early on. (e.g. C++, Java)</a:t>
            </a:r>
            <a:endParaRPr sz="2400">
              <a:solidFill>
                <a:srgbClr val="F0F6FC"/>
              </a:solidFill>
              <a:highlight>
                <a:schemeClr val="lt1"/>
              </a:highlight>
              <a:latin typeface="Quantico"/>
              <a:ea typeface="Quantico"/>
              <a:cs typeface="Quantico"/>
              <a:sym typeface="Quantic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2"/>
          <p:cNvSpPr txBox="1"/>
          <p:nvPr>
            <p:ph idx="1" type="subTitle"/>
          </p:nvPr>
        </p:nvSpPr>
        <p:spPr>
          <a:xfrm>
            <a:off x="1025175" y="966775"/>
            <a:ext cx="6907200" cy="33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85200C"/>
                </a:solidFill>
                <a:latin typeface="Quantico"/>
                <a:ea typeface="Quantico"/>
                <a:cs typeface="Quantico"/>
                <a:sym typeface="Quantico"/>
              </a:rPr>
              <a:t>Quick quest</a:t>
            </a:r>
            <a:endParaRPr sz="4000">
              <a:solidFill>
                <a:srgbClr val="85200C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4000"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3000">
                <a:latin typeface="Quantico"/>
                <a:ea typeface="Quantico"/>
                <a:cs typeface="Quantico"/>
                <a:sym typeface="Quantico"/>
              </a:rPr>
              <a:t>Why do we say compilation time even tho JS is interpreted and what is a LSP?</a:t>
            </a:r>
            <a:endParaRPr sz="3000">
              <a:latin typeface="Quantico"/>
              <a:ea typeface="Quantico"/>
              <a:cs typeface="Quantico"/>
              <a:sym typeface="Quantic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3"/>
          <p:cNvSpPr txBox="1"/>
          <p:nvPr/>
        </p:nvSpPr>
        <p:spPr>
          <a:xfrm>
            <a:off x="2205000" y="2171550"/>
            <a:ext cx="4734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4A86E8"/>
                </a:solidFill>
                <a:latin typeface="Quantico"/>
                <a:ea typeface="Quantico"/>
                <a:cs typeface="Quantico"/>
                <a:sym typeface="Quantico"/>
              </a:rPr>
              <a:t>TypeScript </a:t>
            </a:r>
            <a:r>
              <a:rPr lang="en" sz="4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Basics</a:t>
            </a:r>
            <a:endParaRPr sz="4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4"/>
          <p:cNvSpPr txBox="1"/>
          <p:nvPr>
            <p:ph type="title"/>
          </p:nvPr>
        </p:nvSpPr>
        <p:spPr>
          <a:xfrm>
            <a:off x="348725" y="206425"/>
            <a:ext cx="2767800" cy="100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1- Types:</a:t>
            </a:r>
            <a:endParaRPr sz="3600"/>
          </a:p>
        </p:txBody>
      </p:sp>
      <p:sp>
        <p:nvSpPr>
          <p:cNvPr id="134" name="Google Shape;134;p24"/>
          <p:cNvSpPr txBox="1"/>
          <p:nvPr>
            <p:ph idx="1" type="body"/>
          </p:nvPr>
        </p:nvSpPr>
        <p:spPr>
          <a:xfrm>
            <a:off x="348725" y="1294300"/>
            <a:ext cx="8075400" cy="318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50">
                <a:solidFill>
                  <a:srgbClr val="569CD6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let</a:t>
            </a:r>
            <a:r>
              <a:rPr lang="en" sz="19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 </a:t>
            </a:r>
            <a:r>
              <a:rPr lang="en" sz="1950">
                <a:solidFill>
                  <a:srgbClr val="C8C8C8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Name</a:t>
            </a:r>
            <a:r>
              <a:rPr lang="en" sz="19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: string = </a:t>
            </a:r>
            <a:r>
              <a:rPr lang="en" sz="1950">
                <a:solidFill>
                  <a:srgbClr val="CE9178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"Mohsen"</a:t>
            </a:r>
            <a:r>
              <a:rPr lang="en" sz="19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;</a:t>
            </a:r>
            <a:endParaRPr sz="1950">
              <a:solidFill>
                <a:srgbClr val="D4D4D4"/>
              </a:solidFill>
              <a:highlight>
                <a:schemeClr val="lt1"/>
              </a:highlight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50">
                <a:solidFill>
                  <a:srgbClr val="569CD6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let</a:t>
            </a:r>
            <a:r>
              <a:rPr lang="en" sz="19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 </a:t>
            </a:r>
            <a:r>
              <a:rPr lang="en" sz="1950">
                <a:solidFill>
                  <a:srgbClr val="C8C8C8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Age</a:t>
            </a:r>
            <a:r>
              <a:rPr lang="en" sz="19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: </a:t>
            </a:r>
            <a:r>
              <a:rPr lang="en" sz="1950">
                <a:solidFill>
                  <a:srgbClr val="4EC9B0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Number</a:t>
            </a:r>
            <a:r>
              <a:rPr lang="en" sz="19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 = </a:t>
            </a:r>
            <a:r>
              <a:rPr lang="en" sz="1950">
                <a:solidFill>
                  <a:srgbClr val="B5CEA8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28</a:t>
            </a:r>
            <a:r>
              <a:rPr lang="en" sz="19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;</a:t>
            </a:r>
            <a:endParaRPr sz="1950">
              <a:solidFill>
                <a:srgbClr val="D4D4D4"/>
              </a:solidFill>
              <a:highlight>
                <a:schemeClr val="lt1"/>
              </a:highlight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50">
                <a:solidFill>
                  <a:srgbClr val="569CD6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let</a:t>
            </a:r>
            <a:r>
              <a:rPr lang="en" sz="19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 </a:t>
            </a:r>
            <a:r>
              <a:rPr lang="en" sz="1950">
                <a:solidFill>
                  <a:srgbClr val="C8C8C8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isCool</a:t>
            </a:r>
            <a:r>
              <a:rPr lang="en" sz="19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: </a:t>
            </a:r>
            <a:r>
              <a:rPr lang="en" sz="1950">
                <a:solidFill>
                  <a:srgbClr val="4EC9B0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Boolean</a:t>
            </a:r>
            <a:r>
              <a:rPr lang="en" sz="19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 = </a:t>
            </a:r>
            <a:r>
              <a:rPr lang="en" sz="1950">
                <a:solidFill>
                  <a:srgbClr val="569CD6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true</a:t>
            </a:r>
            <a:r>
              <a:rPr lang="en" sz="19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;</a:t>
            </a:r>
            <a:endParaRPr sz="1950">
              <a:solidFill>
                <a:srgbClr val="D4D4D4"/>
              </a:solidFill>
              <a:highlight>
                <a:schemeClr val="lt1"/>
              </a:highlight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50">
              <a:solidFill>
                <a:srgbClr val="D4D4D4"/>
              </a:solidFill>
              <a:highlight>
                <a:schemeClr val="lt1"/>
              </a:highlight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You can also define your own type, for example:</a:t>
            </a:r>
            <a:endParaRPr sz="1950">
              <a:solidFill>
                <a:srgbClr val="D4D4D4"/>
              </a:solidFill>
              <a:highlight>
                <a:schemeClr val="lt1"/>
              </a:highlight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50">
              <a:solidFill>
                <a:srgbClr val="D4D4D4"/>
              </a:solidFill>
              <a:highlight>
                <a:schemeClr val="lt1"/>
              </a:highlight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50">
                <a:solidFill>
                  <a:srgbClr val="569CD6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type</a:t>
            </a:r>
            <a:r>
              <a:rPr lang="en" sz="19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 </a:t>
            </a:r>
            <a:r>
              <a:rPr lang="en" sz="1950">
                <a:solidFill>
                  <a:srgbClr val="4EC9B0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Committee</a:t>
            </a:r>
            <a:r>
              <a:rPr lang="en" sz="19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 = </a:t>
            </a:r>
            <a:r>
              <a:rPr lang="en" sz="1950">
                <a:solidFill>
                  <a:srgbClr val="CE9178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"Backend"</a:t>
            </a:r>
            <a:r>
              <a:rPr lang="en" sz="19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 | </a:t>
            </a:r>
            <a:r>
              <a:rPr lang="en" sz="1950">
                <a:solidFill>
                  <a:srgbClr val="CE9178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"Linux"</a:t>
            </a:r>
            <a:r>
              <a:rPr lang="en" sz="19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 | </a:t>
            </a:r>
            <a:r>
              <a:rPr lang="en" sz="1950">
                <a:solidFill>
                  <a:srgbClr val="CE9178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"Frontend"</a:t>
            </a:r>
            <a:r>
              <a:rPr lang="en" sz="19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;</a:t>
            </a:r>
            <a:endParaRPr sz="1950">
              <a:solidFill>
                <a:srgbClr val="D4D4D4"/>
              </a:solidFill>
              <a:highlight>
                <a:schemeClr val="lt1"/>
              </a:highlight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50">
              <a:solidFill>
                <a:srgbClr val="D4D4D4"/>
              </a:solidFill>
              <a:highlight>
                <a:schemeClr val="lt1"/>
              </a:highlight>
              <a:latin typeface="Quantico"/>
              <a:ea typeface="Quantico"/>
              <a:cs typeface="Quantico"/>
              <a:sym typeface="Quantic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5"/>
          <p:cNvSpPr txBox="1"/>
          <p:nvPr>
            <p:ph type="title"/>
          </p:nvPr>
        </p:nvSpPr>
        <p:spPr>
          <a:xfrm>
            <a:off x="348725" y="206425"/>
            <a:ext cx="3160800" cy="100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2</a:t>
            </a:r>
            <a:r>
              <a:rPr lang="en" sz="3600"/>
              <a:t>- Functions:</a:t>
            </a:r>
            <a:endParaRPr sz="3600"/>
          </a:p>
        </p:txBody>
      </p:sp>
      <p:sp>
        <p:nvSpPr>
          <p:cNvPr id="140" name="Google Shape;140;p25"/>
          <p:cNvSpPr txBox="1"/>
          <p:nvPr>
            <p:ph idx="1" type="body"/>
          </p:nvPr>
        </p:nvSpPr>
        <p:spPr>
          <a:xfrm>
            <a:off x="348725" y="1103175"/>
            <a:ext cx="8075400" cy="318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5EB2FC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function </a:t>
            </a:r>
            <a:r>
              <a:rPr lang="en" sz="1700"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functionName(Parameters: parameterType):</a:t>
            </a:r>
            <a:r>
              <a:rPr lang="en" sz="1700"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 </a:t>
            </a:r>
            <a:r>
              <a:rPr lang="en" sz="1700"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Retur</a:t>
            </a:r>
            <a:r>
              <a:rPr lang="en" sz="1700"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nType</a:t>
            </a:r>
            <a:r>
              <a:rPr lang="en" sz="1700">
                <a:solidFill>
                  <a:srgbClr val="6A9955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 </a:t>
            </a:r>
            <a:r>
              <a:rPr lang="en" sz="1700"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{   </a:t>
            </a:r>
            <a:endParaRPr sz="1700">
              <a:highlight>
                <a:schemeClr val="lt1"/>
              </a:highlight>
              <a:latin typeface="Quantico"/>
              <a:ea typeface="Quantico"/>
              <a:cs typeface="Quantico"/>
              <a:sym typeface="Quantico"/>
            </a:endParaRPr>
          </a:p>
          <a:p>
            <a:pPr indent="45720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CE9178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Function </a:t>
            </a:r>
            <a:r>
              <a:rPr lang="en" sz="1700">
                <a:solidFill>
                  <a:srgbClr val="CE9178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body </a:t>
            </a:r>
            <a:endParaRPr sz="1700">
              <a:solidFill>
                <a:srgbClr val="CE9178"/>
              </a:solidFill>
              <a:highlight>
                <a:schemeClr val="lt1"/>
              </a:highlight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}</a:t>
            </a:r>
            <a:endParaRPr sz="1700">
              <a:highlight>
                <a:schemeClr val="lt1"/>
              </a:highlight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highlight>
                <a:schemeClr val="lt1"/>
              </a:highlight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Example:</a:t>
            </a:r>
            <a:endParaRPr sz="1700">
              <a:highlight>
                <a:schemeClr val="lt1"/>
              </a:highlight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569CD6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function</a:t>
            </a:r>
            <a:r>
              <a:rPr lang="en" sz="200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 </a:t>
            </a:r>
            <a:r>
              <a:rPr lang="en" sz="2000">
                <a:solidFill>
                  <a:srgbClr val="C8C8C8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Greet</a:t>
            </a:r>
            <a:r>
              <a:rPr lang="en" sz="200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(</a:t>
            </a:r>
            <a:r>
              <a:rPr lang="en" sz="2000">
                <a:solidFill>
                  <a:srgbClr val="7F7F7F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name</a:t>
            </a:r>
            <a:r>
              <a:rPr lang="en" sz="200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: string): void {</a:t>
            </a:r>
            <a:endParaRPr sz="2000">
              <a:solidFill>
                <a:srgbClr val="D4D4D4"/>
              </a:solidFill>
              <a:highlight>
                <a:schemeClr val="lt1"/>
              </a:highlight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    </a:t>
            </a:r>
            <a:r>
              <a:rPr lang="en" sz="2000">
                <a:solidFill>
                  <a:srgbClr val="C8C8C8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console</a:t>
            </a:r>
            <a:r>
              <a:rPr lang="en" sz="200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.</a:t>
            </a:r>
            <a:r>
              <a:rPr lang="en" sz="2000">
                <a:solidFill>
                  <a:srgbClr val="C8C8C8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log</a:t>
            </a:r>
            <a:r>
              <a:rPr lang="en" sz="200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(</a:t>
            </a:r>
            <a:r>
              <a:rPr lang="en" sz="2000">
                <a:solidFill>
                  <a:srgbClr val="CE9178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`Hello </a:t>
            </a:r>
            <a:r>
              <a:rPr lang="en" sz="2000">
                <a:solidFill>
                  <a:srgbClr val="569CD6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${</a:t>
            </a:r>
            <a:r>
              <a:rPr lang="en" sz="2000">
                <a:solidFill>
                  <a:srgbClr val="7F7F7F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name</a:t>
            </a:r>
            <a:r>
              <a:rPr lang="en" sz="2000">
                <a:solidFill>
                  <a:srgbClr val="569CD6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}</a:t>
            </a:r>
            <a:r>
              <a:rPr lang="en" sz="2000">
                <a:solidFill>
                  <a:srgbClr val="CE9178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`</a:t>
            </a:r>
            <a:r>
              <a:rPr lang="en" sz="200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)</a:t>
            </a:r>
            <a:endParaRPr sz="2000">
              <a:solidFill>
                <a:srgbClr val="D4D4D4"/>
              </a:solidFill>
              <a:highlight>
                <a:schemeClr val="lt1"/>
              </a:highlight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}</a:t>
            </a:r>
            <a:endParaRPr sz="2000">
              <a:solidFill>
                <a:srgbClr val="D4D4D4"/>
              </a:solidFill>
              <a:highlight>
                <a:schemeClr val="lt1"/>
              </a:highlight>
              <a:latin typeface="Quantico"/>
              <a:ea typeface="Quantico"/>
              <a:cs typeface="Quantico"/>
              <a:sym typeface="Quantic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 txBox="1"/>
          <p:nvPr>
            <p:ph type="title"/>
          </p:nvPr>
        </p:nvSpPr>
        <p:spPr>
          <a:xfrm>
            <a:off x="348725" y="206425"/>
            <a:ext cx="3160800" cy="100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3</a:t>
            </a:r>
            <a:r>
              <a:rPr lang="en" sz="3600"/>
              <a:t>- Interfaces:</a:t>
            </a:r>
            <a:endParaRPr sz="3600"/>
          </a:p>
        </p:txBody>
      </p:sp>
      <p:sp>
        <p:nvSpPr>
          <p:cNvPr id="146" name="Google Shape;146;p26"/>
          <p:cNvSpPr txBox="1"/>
          <p:nvPr>
            <p:ph idx="1" type="body"/>
          </p:nvPr>
        </p:nvSpPr>
        <p:spPr>
          <a:xfrm>
            <a:off x="348725" y="1103175"/>
            <a:ext cx="8075400" cy="318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50"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Think of them as Structs in C++</a:t>
            </a:r>
            <a:endParaRPr sz="1750">
              <a:highlight>
                <a:schemeClr val="lt1"/>
              </a:highlight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50">
              <a:highlight>
                <a:schemeClr val="lt1"/>
              </a:highlight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50">
                <a:solidFill>
                  <a:srgbClr val="569CD6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interface</a:t>
            </a:r>
            <a:r>
              <a:rPr lang="en" sz="17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 </a:t>
            </a:r>
            <a:r>
              <a:rPr lang="en" sz="1750">
                <a:solidFill>
                  <a:srgbClr val="4EC9B0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member</a:t>
            </a:r>
            <a:r>
              <a:rPr lang="en" sz="17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 {</a:t>
            </a:r>
            <a:endParaRPr sz="1750">
              <a:solidFill>
                <a:srgbClr val="D4D4D4"/>
              </a:solidFill>
              <a:highlight>
                <a:schemeClr val="lt1"/>
              </a:highlight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    </a:t>
            </a:r>
            <a:r>
              <a:rPr lang="en" sz="1750">
                <a:solidFill>
                  <a:srgbClr val="DADADA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name</a:t>
            </a:r>
            <a:r>
              <a:rPr lang="en" sz="17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: </a:t>
            </a:r>
            <a:r>
              <a:rPr lang="en" sz="1750">
                <a:solidFill>
                  <a:srgbClr val="4EC9B0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String</a:t>
            </a:r>
            <a:r>
              <a:rPr lang="en" sz="17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;</a:t>
            </a:r>
            <a:endParaRPr sz="1750">
              <a:solidFill>
                <a:srgbClr val="D4D4D4"/>
              </a:solidFill>
              <a:highlight>
                <a:schemeClr val="lt1"/>
              </a:highlight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    </a:t>
            </a:r>
            <a:r>
              <a:rPr lang="en" sz="1750">
                <a:solidFill>
                  <a:srgbClr val="DADADA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age</a:t>
            </a:r>
            <a:r>
              <a:rPr lang="en" sz="17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: </a:t>
            </a:r>
            <a:r>
              <a:rPr lang="en" sz="1750">
                <a:solidFill>
                  <a:srgbClr val="4EC9B0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Number</a:t>
            </a:r>
            <a:r>
              <a:rPr lang="en" sz="17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;</a:t>
            </a:r>
            <a:endParaRPr sz="1750">
              <a:solidFill>
                <a:srgbClr val="D4D4D4"/>
              </a:solidFill>
              <a:highlight>
                <a:schemeClr val="lt1"/>
              </a:highlight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    </a:t>
            </a:r>
            <a:r>
              <a:rPr lang="en" sz="1750">
                <a:solidFill>
                  <a:srgbClr val="DADADA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committee</a:t>
            </a:r>
            <a:r>
              <a:rPr lang="en" sz="17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: </a:t>
            </a:r>
            <a:r>
              <a:rPr lang="en" sz="1750">
                <a:solidFill>
                  <a:srgbClr val="4EC9B0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String</a:t>
            </a:r>
            <a:r>
              <a:rPr lang="en" sz="17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;</a:t>
            </a:r>
            <a:endParaRPr sz="1750">
              <a:solidFill>
                <a:srgbClr val="D4D4D4"/>
              </a:solidFill>
              <a:highlight>
                <a:schemeClr val="lt1"/>
              </a:highlight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}</a:t>
            </a:r>
            <a:endParaRPr sz="1750">
              <a:solidFill>
                <a:srgbClr val="D4D4D4"/>
              </a:solidFill>
              <a:highlight>
                <a:schemeClr val="lt1"/>
              </a:highlight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50">
              <a:solidFill>
                <a:srgbClr val="D4D4D4"/>
              </a:solidFill>
              <a:highlight>
                <a:schemeClr val="lt1"/>
              </a:highlight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50">
                <a:solidFill>
                  <a:srgbClr val="569CD6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const</a:t>
            </a:r>
            <a:r>
              <a:rPr lang="en" sz="17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 </a:t>
            </a:r>
            <a:r>
              <a:rPr lang="en" sz="1750">
                <a:solidFill>
                  <a:srgbClr val="C8C8C8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member</a:t>
            </a:r>
            <a:r>
              <a:rPr lang="en" sz="17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 = { </a:t>
            </a:r>
            <a:r>
              <a:rPr lang="en" sz="1750">
                <a:solidFill>
                  <a:srgbClr val="DADADA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name</a:t>
            </a:r>
            <a:r>
              <a:rPr lang="en" sz="17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:</a:t>
            </a:r>
            <a:r>
              <a:rPr lang="en" sz="1750">
                <a:solidFill>
                  <a:srgbClr val="CE9178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"Mohsen"</a:t>
            </a:r>
            <a:r>
              <a:rPr lang="en" sz="17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, </a:t>
            </a:r>
            <a:r>
              <a:rPr lang="en" sz="1750">
                <a:solidFill>
                  <a:srgbClr val="DADADA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age</a:t>
            </a:r>
            <a:r>
              <a:rPr lang="en" sz="17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:</a:t>
            </a:r>
            <a:r>
              <a:rPr lang="en" sz="1750">
                <a:solidFill>
                  <a:srgbClr val="B5CEA8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28</a:t>
            </a:r>
            <a:r>
              <a:rPr lang="en" sz="17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, </a:t>
            </a:r>
            <a:r>
              <a:rPr lang="en" sz="1750">
                <a:solidFill>
                  <a:srgbClr val="DADADA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committee</a:t>
            </a:r>
            <a:r>
              <a:rPr lang="en" sz="17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:</a:t>
            </a:r>
            <a:r>
              <a:rPr lang="en" sz="1750">
                <a:solidFill>
                  <a:srgbClr val="CE9178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"Linux"</a:t>
            </a:r>
            <a:r>
              <a:rPr lang="en" sz="17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 }</a:t>
            </a:r>
            <a:endParaRPr sz="1750">
              <a:solidFill>
                <a:srgbClr val="D4D4D4"/>
              </a:solidFill>
              <a:highlight>
                <a:schemeClr val="lt1"/>
              </a:highlight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5EB2FC"/>
              </a:solidFill>
              <a:highlight>
                <a:schemeClr val="lt1"/>
              </a:highlight>
              <a:latin typeface="Quantico"/>
              <a:ea typeface="Quantico"/>
              <a:cs typeface="Quantico"/>
              <a:sym typeface="Quantic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7"/>
          <p:cNvSpPr txBox="1"/>
          <p:nvPr>
            <p:ph type="title"/>
          </p:nvPr>
        </p:nvSpPr>
        <p:spPr>
          <a:xfrm>
            <a:off x="348725" y="206425"/>
            <a:ext cx="3668700" cy="100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4</a:t>
            </a:r>
            <a:r>
              <a:rPr lang="en" sz="3600"/>
              <a:t>- Union Types:</a:t>
            </a:r>
            <a:endParaRPr sz="3600"/>
          </a:p>
        </p:txBody>
      </p:sp>
      <p:sp>
        <p:nvSpPr>
          <p:cNvPr id="152" name="Google Shape;152;p27"/>
          <p:cNvSpPr txBox="1"/>
          <p:nvPr>
            <p:ph idx="1" type="body"/>
          </p:nvPr>
        </p:nvSpPr>
        <p:spPr>
          <a:xfrm>
            <a:off x="348725" y="1103175"/>
            <a:ext cx="8075400" cy="318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50">
                <a:solidFill>
                  <a:srgbClr val="569CD6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let</a:t>
            </a:r>
            <a:r>
              <a:rPr lang="en" sz="26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 </a:t>
            </a:r>
            <a:r>
              <a:rPr lang="en" sz="2650">
                <a:solidFill>
                  <a:srgbClr val="C8C8C8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age</a:t>
            </a:r>
            <a:r>
              <a:rPr lang="en" sz="26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: </a:t>
            </a:r>
            <a:r>
              <a:rPr lang="en" sz="2650">
                <a:solidFill>
                  <a:srgbClr val="4EC9B0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Number</a:t>
            </a:r>
            <a:r>
              <a:rPr lang="en" sz="26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 | </a:t>
            </a:r>
            <a:r>
              <a:rPr lang="en" sz="2650">
                <a:solidFill>
                  <a:srgbClr val="4EC9B0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String</a:t>
            </a:r>
            <a:r>
              <a:rPr lang="en" sz="26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 = </a:t>
            </a:r>
            <a:r>
              <a:rPr lang="en" sz="2650">
                <a:solidFill>
                  <a:srgbClr val="CE9178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"8"</a:t>
            </a:r>
            <a:r>
              <a:rPr lang="en" sz="26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;</a:t>
            </a:r>
            <a:endParaRPr sz="2650">
              <a:solidFill>
                <a:srgbClr val="D4D4D4"/>
              </a:solidFill>
              <a:highlight>
                <a:schemeClr val="lt1"/>
              </a:highlight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50">
              <a:solidFill>
                <a:srgbClr val="D4D4D4"/>
              </a:solidFill>
              <a:highlight>
                <a:schemeClr val="lt1"/>
              </a:highlight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As you can see we can here use the pipe operator “ | ” to declare that a variable may have 2 different data types.</a:t>
            </a:r>
            <a:endParaRPr sz="2050">
              <a:solidFill>
                <a:srgbClr val="D4D4D4"/>
              </a:solidFill>
              <a:highlight>
                <a:schemeClr val="lt1"/>
              </a:highlight>
              <a:latin typeface="Quantico"/>
              <a:ea typeface="Quantico"/>
              <a:cs typeface="Quantico"/>
              <a:sym typeface="Quantic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8"/>
          <p:cNvSpPr txBox="1"/>
          <p:nvPr>
            <p:ph type="title"/>
          </p:nvPr>
        </p:nvSpPr>
        <p:spPr>
          <a:xfrm>
            <a:off x="348725" y="206425"/>
            <a:ext cx="6130200" cy="100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5</a:t>
            </a:r>
            <a:r>
              <a:rPr lang="en" sz="3600"/>
              <a:t>- Intersection Types:</a:t>
            </a:r>
            <a:endParaRPr sz="3600"/>
          </a:p>
        </p:txBody>
      </p:sp>
      <p:sp>
        <p:nvSpPr>
          <p:cNvPr id="158" name="Google Shape;158;p28"/>
          <p:cNvSpPr txBox="1"/>
          <p:nvPr>
            <p:ph idx="1" type="body"/>
          </p:nvPr>
        </p:nvSpPr>
        <p:spPr>
          <a:xfrm>
            <a:off x="348725" y="1103175"/>
            <a:ext cx="8075400" cy="318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50">
                <a:solidFill>
                  <a:srgbClr val="569CD6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type</a:t>
            </a:r>
            <a:r>
              <a:rPr lang="en" sz="18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 </a:t>
            </a:r>
            <a:r>
              <a:rPr lang="en" sz="1850">
                <a:solidFill>
                  <a:srgbClr val="4EC9B0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Id</a:t>
            </a:r>
            <a:r>
              <a:rPr lang="en" sz="18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 = { </a:t>
            </a:r>
            <a:r>
              <a:rPr lang="en" sz="1850">
                <a:solidFill>
                  <a:srgbClr val="DADADA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id</a:t>
            </a:r>
            <a:r>
              <a:rPr lang="en" sz="18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: number };</a:t>
            </a:r>
            <a:endParaRPr sz="1850">
              <a:solidFill>
                <a:srgbClr val="D4D4D4"/>
              </a:solidFill>
              <a:highlight>
                <a:schemeClr val="lt1"/>
              </a:highlight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50">
                <a:solidFill>
                  <a:srgbClr val="569CD6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type</a:t>
            </a:r>
            <a:r>
              <a:rPr lang="en" sz="18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 </a:t>
            </a:r>
            <a:r>
              <a:rPr lang="en" sz="1850">
                <a:solidFill>
                  <a:srgbClr val="4EC9B0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Name</a:t>
            </a:r>
            <a:r>
              <a:rPr lang="en" sz="18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 = { </a:t>
            </a:r>
            <a:r>
              <a:rPr lang="en" sz="1850">
                <a:solidFill>
                  <a:srgbClr val="DADADA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name</a:t>
            </a:r>
            <a:r>
              <a:rPr lang="en" sz="18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: string };</a:t>
            </a:r>
            <a:endParaRPr sz="1850">
              <a:solidFill>
                <a:srgbClr val="D4D4D4"/>
              </a:solidFill>
              <a:highlight>
                <a:schemeClr val="lt1"/>
              </a:highlight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0">
              <a:solidFill>
                <a:srgbClr val="D4D4D4"/>
              </a:solidFill>
              <a:highlight>
                <a:schemeClr val="lt1"/>
              </a:highlight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50">
                <a:solidFill>
                  <a:srgbClr val="569CD6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type</a:t>
            </a:r>
            <a:r>
              <a:rPr lang="en" sz="18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 </a:t>
            </a:r>
            <a:r>
              <a:rPr lang="en" sz="1850">
                <a:solidFill>
                  <a:srgbClr val="4EC9B0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User</a:t>
            </a:r>
            <a:r>
              <a:rPr lang="en" sz="18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 = </a:t>
            </a:r>
            <a:r>
              <a:rPr lang="en" sz="1850">
                <a:solidFill>
                  <a:srgbClr val="4EC9B0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Id</a:t>
            </a:r>
            <a:r>
              <a:rPr lang="en" sz="18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 &amp; </a:t>
            </a:r>
            <a:r>
              <a:rPr lang="en" sz="1850">
                <a:solidFill>
                  <a:srgbClr val="4EC9B0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Name</a:t>
            </a:r>
            <a:r>
              <a:rPr lang="en" sz="18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;</a:t>
            </a:r>
            <a:endParaRPr sz="1850">
              <a:solidFill>
                <a:srgbClr val="D4D4D4"/>
              </a:solidFill>
              <a:highlight>
                <a:schemeClr val="lt1"/>
              </a:highlight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0">
              <a:solidFill>
                <a:srgbClr val="D4D4D4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H</a:t>
            </a:r>
            <a:r>
              <a:rPr lang="en" sz="20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ere use the </a:t>
            </a:r>
            <a:r>
              <a:rPr lang="en" sz="20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ampersand </a:t>
            </a:r>
            <a:r>
              <a:rPr lang="en" sz="20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operator “ &amp; ” to declare that a variable will have the attributes of all types declared.</a:t>
            </a:r>
            <a:endParaRPr sz="2050">
              <a:solidFill>
                <a:srgbClr val="D4D4D4"/>
              </a:solidFill>
              <a:highlight>
                <a:schemeClr val="lt1"/>
              </a:highlight>
              <a:latin typeface="Quantico"/>
              <a:ea typeface="Quantico"/>
              <a:cs typeface="Quantico"/>
              <a:sym typeface="Quantic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9"/>
          <p:cNvSpPr txBox="1"/>
          <p:nvPr>
            <p:ph type="title"/>
          </p:nvPr>
        </p:nvSpPr>
        <p:spPr>
          <a:xfrm>
            <a:off x="348725" y="206425"/>
            <a:ext cx="6130200" cy="100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6</a:t>
            </a:r>
            <a:r>
              <a:rPr lang="en" sz="3600"/>
              <a:t>- Generic Types:</a:t>
            </a:r>
            <a:endParaRPr sz="3600"/>
          </a:p>
        </p:txBody>
      </p:sp>
      <p:sp>
        <p:nvSpPr>
          <p:cNvPr id="164" name="Google Shape;164;p29"/>
          <p:cNvSpPr txBox="1"/>
          <p:nvPr>
            <p:ph idx="1" type="body"/>
          </p:nvPr>
        </p:nvSpPr>
        <p:spPr>
          <a:xfrm>
            <a:off x="348725" y="1103175"/>
            <a:ext cx="8075400" cy="318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solidFill>
                  <a:srgbClr val="569CD6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function</a:t>
            </a:r>
            <a:r>
              <a:rPr lang="en" sz="14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 </a:t>
            </a:r>
            <a:r>
              <a:rPr lang="en" sz="1450">
                <a:solidFill>
                  <a:srgbClr val="C8C8C8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identity</a:t>
            </a:r>
            <a:r>
              <a:rPr lang="en" sz="14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&lt;</a:t>
            </a:r>
            <a:r>
              <a:rPr lang="en" sz="1450">
                <a:solidFill>
                  <a:srgbClr val="4EC9B0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T</a:t>
            </a:r>
            <a:r>
              <a:rPr lang="en" sz="14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&gt;(</a:t>
            </a:r>
            <a:r>
              <a:rPr lang="en" sz="1450">
                <a:solidFill>
                  <a:srgbClr val="7F7F7F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value</a:t>
            </a:r>
            <a:r>
              <a:rPr lang="en" sz="14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: </a:t>
            </a:r>
            <a:r>
              <a:rPr lang="en" sz="1450">
                <a:solidFill>
                  <a:srgbClr val="4EC9B0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T</a:t>
            </a:r>
            <a:r>
              <a:rPr lang="en" sz="14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): </a:t>
            </a:r>
            <a:r>
              <a:rPr lang="en" sz="1450">
                <a:solidFill>
                  <a:srgbClr val="4EC9B0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T</a:t>
            </a:r>
            <a:r>
              <a:rPr lang="en" sz="14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 {</a:t>
            </a:r>
            <a:endParaRPr sz="1450">
              <a:solidFill>
                <a:srgbClr val="D4D4D4"/>
              </a:solidFill>
              <a:highlight>
                <a:schemeClr val="lt1"/>
              </a:highlight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    </a:t>
            </a:r>
            <a:r>
              <a:rPr lang="en" sz="1450">
                <a:solidFill>
                  <a:srgbClr val="569CD6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return</a:t>
            </a:r>
            <a:r>
              <a:rPr lang="en" sz="14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 </a:t>
            </a:r>
            <a:r>
              <a:rPr lang="en" sz="1450">
                <a:solidFill>
                  <a:srgbClr val="7F7F7F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value</a:t>
            </a:r>
            <a:r>
              <a:rPr lang="en" sz="14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;</a:t>
            </a:r>
            <a:endParaRPr sz="1450">
              <a:solidFill>
                <a:srgbClr val="D4D4D4"/>
              </a:solidFill>
              <a:highlight>
                <a:schemeClr val="lt1"/>
              </a:highlight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}</a:t>
            </a:r>
            <a:endParaRPr sz="1450">
              <a:solidFill>
                <a:srgbClr val="D4D4D4"/>
              </a:solidFill>
              <a:highlight>
                <a:schemeClr val="lt1"/>
              </a:highlight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0">
              <a:solidFill>
                <a:srgbClr val="D4D4D4"/>
              </a:solidFill>
              <a:highlight>
                <a:schemeClr val="lt1"/>
              </a:highlight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solidFill>
                  <a:srgbClr val="569CD6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let</a:t>
            </a:r>
            <a:r>
              <a:rPr lang="en" sz="14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 </a:t>
            </a:r>
            <a:r>
              <a:rPr lang="en" sz="1450">
                <a:solidFill>
                  <a:srgbClr val="C8C8C8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num</a:t>
            </a:r>
            <a:r>
              <a:rPr lang="en" sz="14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 = </a:t>
            </a:r>
            <a:r>
              <a:rPr lang="en" sz="1450">
                <a:solidFill>
                  <a:srgbClr val="C8C8C8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identity</a:t>
            </a:r>
            <a:r>
              <a:rPr lang="en" sz="14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&lt;number&gt;(</a:t>
            </a:r>
            <a:r>
              <a:rPr lang="en" sz="1450">
                <a:solidFill>
                  <a:srgbClr val="B5CEA8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42</a:t>
            </a:r>
            <a:r>
              <a:rPr lang="en" sz="14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);      </a:t>
            </a:r>
            <a:r>
              <a:rPr lang="en" sz="1450">
                <a:solidFill>
                  <a:srgbClr val="6A9955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// T is number</a:t>
            </a:r>
            <a:endParaRPr sz="1450">
              <a:solidFill>
                <a:srgbClr val="6A9955"/>
              </a:solidFill>
              <a:highlight>
                <a:schemeClr val="lt1"/>
              </a:highlight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solidFill>
                  <a:srgbClr val="569CD6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let</a:t>
            </a:r>
            <a:r>
              <a:rPr lang="en" sz="14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 </a:t>
            </a:r>
            <a:r>
              <a:rPr lang="en" sz="1450">
                <a:solidFill>
                  <a:srgbClr val="C8C8C8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str</a:t>
            </a:r>
            <a:r>
              <a:rPr lang="en" sz="14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 = </a:t>
            </a:r>
            <a:r>
              <a:rPr lang="en" sz="1450">
                <a:solidFill>
                  <a:srgbClr val="C8C8C8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identity</a:t>
            </a:r>
            <a:r>
              <a:rPr lang="en" sz="14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&lt;string&gt;(</a:t>
            </a:r>
            <a:r>
              <a:rPr lang="en" sz="1450">
                <a:solidFill>
                  <a:srgbClr val="CE9178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"hello"</a:t>
            </a:r>
            <a:r>
              <a:rPr lang="en" sz="14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); </a:t>
            </a:r>
            <a:r>
              <a:rPr lang="en" sz="1450">
                <a:solidFill>
                  <a:srgbClr val="6A9955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// T is string</a:t>
            </a:r>
            <a:endParaRPr sz="1450">
              <a:solidFill>
                <a:srgbClr val="6A9955"/>
              </a:solidFill>
              <a:highlight>
                <a:schemeClr val="lt1"/>
              </a:highlight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solidFill>
                  <a:srgbClr val="569CD6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let</a:t>
            </a:r>
            <a:r>
              <a:rPr lang="en" sz="14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 </a:t>
            </a:r>
            <a:r>
              <a:rPr lang="en" sz="1450">
                <a:solidFill>
                  <a:srgbClr val="C8C8C8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auto</a:t>
            </a:r>
            <a:r>
              <a:rPr lang="en" sz="14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 = </a:t>
            </a:r>
            <a:r>
              <a:rPr lang="en" sz="1450">
                <a:solidFill>
                  <a:srgbClr val="C8C8C8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identity</a:t>
            </a:r>
            <a:r>
              <a:rPr lang="en" sz="14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(</a:t>
            </a:r>
            <a:r>
              <a:rPr lang="en" sz="1450">
                <a:solidFill>
                  <a:srgbClr val="569CD6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true</a:t>
            </a:r>
            <a:r>
              <a:rPr lang="en" sz="14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);           </a:t>
            </a:r>
            <a:r>
              <a:rPr lang="en" sz="1450">
                <a:solidFill>
                  <a:srgbClr val="6A9955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// T inferred as boolean</a:t>
            </a:r>
            <a:endParaRPr sz="1450">
              <a:solidFill>
                <a:srgbClr val="6A9955"/>
              </a:solidFill>
              <a:highlight>
                <a:schemeClr val="lt1"/>
              </a:highlight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0">
              <a:highlight>
                <a:schemeClr val="lt1"/>
              </a:highlight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50"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This is like generalizing what a function can do to multiple data types.</a:t>
            </a:r>
            <a:endParaRPr sz="1850">
              <a:highlight>
                <a:schemeClr val="lt1"/>
              </a:highlight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0">
              <a:highlight>
                <a:schemeClr val="lt1"/>
              </a:highlight>
              <a:latin typeface="Quantico"/>
              <a:ea typeface="Quantico"/>
              <a:cs typeface="Quantico"/>
              <a:sym typeface="Quantic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0"/>
          <p:cNvSpPr txBox="1"/>
          <p:nvPr>
            <p:ph type="title"/>
          </p:nvPr>
        </p:nvSpPr>
        <p:spPr>
          <a:xfrm>
            <a:off x="348725" y="206425"/>
            <a:ext cx="6592500" cy="100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extra-</a:t>
            </a:r>
            <a:r>
              <a:rPr lang="en" sz="3600"/>
              <a:t> WD-40 of </a:t>
            </a:r>
            <a:r>
              <a:rPr lang="en" sz="3600">
                <a:solidFill>
                  <a:srgbClr val="4A86E8"/>
                </a:solidFill>
              </a:rPr>
              <a:t>TypeScript</a:t>
            </a:r>
            <a:r>
              <a:rPr lang="en" sz="3600"/>
              <a:t>:</a:t>
            </a:r>
            <a:endParaRPr sz="3600"/>
          </a:p>
        </p:txBody>
      </p:sp>
      <p:sp>
        <p:nvSpPr>
          <p:cNvPr id="170" name="Google Shape;170;p30"/>
          <p:cNvSpPr txBox="1"/>
          <p:nvPr>
            <p:ph idx="1" type="body"/>
          </p:nvPr>
        </p:nvSpPr>
        <p:spPr>
          <a:xfrm>
            <a:off x="348725" y="1103175"/>
            <a:ext cx="8075400" cy="318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50"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The </a:t>
            </a:r>
            <a:r>
              <a:rPr lang="en" sz="2650">
                <a:solidFill>
                  <a:srgbClr val="4EC9B0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Any </a:t>
            </a:r>
            <a:r>
              <a:rPr lang="en" sz="2650"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keyword is used when you don’t expect a certain data type, like what </a:t>
            </a:r>
            <a:r>
              <a:rPr lang="en" sz="2650">
                <a:solidFill>
                  <a:srgbClr val="FFFF00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JavaScript </a:t>
            </a:r>
            <a:r>
              <a:rPr lang="en" sz="2650"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does.</a:t>
            </a:r>
            <a:endParaRPr sz="2650">
              <a:highlight>
                <a:schemeClr val="lt1"/>
              </a:highlight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50">
              <a:highlight>
                <a:schemeClr val="lt1"/>
              </a:highlight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50"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Example:</a:t>
            </a:r>
            <a:endParaRPr sz="1950">
              <a:highlight>
                <a:schemeClr val="lt1"/>
              </a:highlight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50">
                <a:solidFill>
                  <a:srgbClr val="569CD6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let</a:t>
            </a:r>
            <a:r>
              <a:rPr lang="en" sz="19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 </a:t>
            </a:r>
            <a:r>
              <a:rPr lang="en" sz="1950">
                <a:solidFill>
                  <a:srgbClr val="C8C8C8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age</a:t>
            </a:r>
            <a:r>
              <a:rPr lang="en" sz="19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: any;</a:t>
            </a:r>
            <a:endParaRPr sz="1950">
              <a:solidFill>
                <a:srgbClr val="D4D4D4"/>
              </a:solidFill>
              <a:highlight>
                <a:schemeClr val="lt1"/>
              </a:highlight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50">
                <a:solidFill>
                  <a:srgbClr val="C8C8C8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age</a:t>
            </a:r>
            <a:r>
              <a:rPr lang="en" sz="19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 = </a:t>
            </a:r>
            <a:r>
              <a:rPr lang="en" sz="1950">
                <a:solidFill>
                  <a:srgbClr val="CE9178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"hello world"</a:t>
            </a:r>
            <a:r>
              <a:rPr lang="en" sz="19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;</a:t>
            </a:r>
            <a:endParaRPr sz="1950">
              <a:solidFill>
                <a:srgbClr val="D4D4D4"/>
              </a:solidFill>
              <a:highlight>
                <a:schemeClr val="lt1"/>
              </a:highlight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50">
                <a:solidFill>
                  <a:srgbClr val="C8C8C8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age</a:t>
            </a:r>
            <a:r>
              <a:rPr lang="en" sz="19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 = </a:t>
            </a:r>
            <a:r>
              <a:rPr lang="en" sz="1950">
                <a:solidFill>
                  <a:srgbClr val="B5CEA8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32</a:t>
            </a:r>
            <a:r>
              <a:rPr lang="en" sz="19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;</a:t>
            </a:r>
            <a:endParaRPr sz="1950">
              <a:solidFill>
                <a:srgbClr val="D4D4D4"/>
              </a:solidFill>
              <a:highlight>
                <a:schemeClr val="lt1"/>
              </a:highlight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50">
              <a:highlight>
                <a:schemeClr val="lt1"/>
              </a:highlight>
              <a:latin typeface="Quantico"/>
              <a:ea typeface="Quantico"/>
              <a:cs typeface="Quantico"/>
              <a:sym typeface="Quantic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1"/>
          <p:cNvSpPr txBox="1"/>
          <p:nvPr>
            <p:ph type="title"/>
          </p:nvPr>
        </p:nvSpPr>
        <p:spPr>
          <a:xfrm>
            <a:off x="720000" y="539500"/>
            <a:ext cx="7704000" cy="52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50">
                <a:solidFill>
                  <a:srgbClr val="4A86E8"/>
                </a:solidFill>
                <a:highlight>
                  <a:schemeClr val="lt1"/>
                </a:highlight>
              </a:rPr>
              <a:t>TypeScript</a:t>
            </a:r>
            <a:r>
              <a:rPr lang="en" sz="1950">
                <a:highlight>
                  <a:schemeClr val="lt1"/>
                </a:highlight>
              </a:rPr>
              <a:t>: Type vs Interface vs Class vs Object</a:t>
            </a:r>
            <a:endParaRPr sz="4200">
              <a:highlight>
                <a:schemeClr val="lt1"/>
              </a:highlight>
            </a:endParaRPr>
          </a:p>
        </p:txBody>
      </p:sp>
      <p:graphicFrame>
        <p:nvGraphicFramePr>
          <p:cNvPr id="176" name="Google Shape;176;p31"/>
          <p:cNvGraphicFramePr/>
          <p:nvPr/>
        </p:nvGraphicFramePr>
        <p:xfrm>
          <a:off x="476600" y="1307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{B9C19790-A5D9-4618-B8C2-A2C1B9E673F2}</a:tableStyleId>
              </a:tblPr>
              <a:tblGrid>
                <a:gridCol w="2070700"/>
                <a:gridCol w="2070700"/>
                <a:gridCol w="2070700"/>
                <a:gridCol w="2070700"/>
              </a:tblGrid>
              <a:tr h="545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Quantico"/>
                          <a:ea typeface="Quantico"/>
                          <a:cs typeface="Quantico"/>
                          <a:sym typeface="Quantico"/>
                        </a:rPr>
                        <a:t>Type</a:t>
                      </a:r>
                      <a:endParaRPr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Quantico"/>
                        <a:ea typeface="Quantico"/>
                        <a:cs typeface="Quantico"/>
                        <a:sym typeface="Quantic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Quantico"/>
                          <a:ea typeface="Quantico"/>
                          <a:cs typeface="Quantico"/>
                          <a:sym typeface="Quantico"/>
                        </a:rPr>
                        <a:t>Interface</a:t>
                      </a:r>
                      <a:endParaRPr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Quantico"/>
                        <a:ea typeface="Quantico"/>
                        <a:cs typeface="Quantico"/>
                        <a:sym typeface="Quantic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Quantico"/>
                          <a:ea typeface="Quantico"/>
                          <a:cs typeface="Quantico"/>
                          <a:sym typeface="Quantico"/>
                        </a:rPr>
                        <a:t>Class</a:t>
                      </a:r>
                      <a:endParaRPr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Quantico"/>
                        <a:ea typeface="Quantico"/>
                        <a:cs typeface="Quantico"/>
                        <a:sym typeface="Quantic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Quantico"/>
                          <a:ea typeface="Quantico"/>
                          <a:cs typeface="Quantico"/>
                          <a:sym typeface="Quantico"/>
                        </a:rPr>
                        <a:t>Object</a:t>
                      </a:r>
                      <a:endParaRPr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Quantico"/>
                        <a:ea typeface="Quantico"/>
                        <a:cs typeface="Quantico"/>
                        <a:sym typeface="Quantico"/>
                      </a:endParaRPr>
                    </a:p>
                  </a:txBody>
                  <a:tcPr marT="91425" marB="91425" marR="91425" marL="91425"/>
                </a:tc>
              </a:tr>
              <a:tr h="414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Quantico"/>
                          <a:ea typeface="Quantico"/>
                          <a:cs typeface="Quantico"/>
                          <a:sym typeface="Quantico"/>
                        </a:rPr>
                        <a:t>Compile-Time Only</a:t>
                      </a:r>
                      <a:endParaRPr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Quantico"/>
                        <a:ea typeface="Quantico"/>
                        <a:cs typeface="Quantico"/>
                        <a:sym typeface="Quantic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Quantico"/>
                          <a:ea typeface="Quantico"/>
                          <a:cs typeface="Quantico"/>
                          <a:sym typeface="Quantico"/>
                        </a:rPr>
                        <a:t>Compile-Time Only</a:t>
                      </a:r>
                      <a:endParaRPr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Quantico"/>
                        <a:ea typeface="Quantico"/>
                        <a:cs typeface="Quantico"/>
                        <a:sym typeface="Quantic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Quantico"/>
                          <a:ea typeface="Quantico"/>
                          <a:cs typeface="Quantico"/>
                          <a:sym typeface="Quantico"/>
                        </a:rPr>
                        <a:t>Run time</a:t>
                      </a:r>
                      <a:endParaRPr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Quantico"/>
                        <a:ea typeface="Quantico"/>
                        <a:cs typeface="Quantico"/>
                        <a:sym typeface="Quantic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Quantico"/>
                          <a:ea typeface="Quantico"/>
                          <a:cs typeface="Quantico"/>
                          <a:sym typeface="Quantico"/>
                        </a:rPr>
                        <a:t>Run time</a:t>
                      </a:r>
                      <a:endParaRPr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Quantico"/>
                        <a:ea typeface="Quantico"/>
                        <a:cs typeface="Quantico"/>
                        <a:sym typeface="Quantico"/>
                      </a:endParaRPr>
                    </a:p>
                  </a:txBody>
                  <a:tcPr marT="91425" marB="91425" marR="91425" marL="91425"/>
                </a:tc>
              </a:tr>
              <a:tr h="769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Quantico"/>
                          <a:ea typeface="Quantico"/>
                          <a:cs typeface="Quantico"/>
                          <a:sym typeface="Quantico"/>
                        </a:rPr>
                        <a:t>Disappears</a:t>
                      </a:r>
                      <a:r>
                        <a:rPr lang="en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Quantico"/>
                          <a:ea typeface="Quantico"/>
                          <a:cs typeface="Quantico"/>
                          <a:sym typeface="Quantico"/>
                        </a:rPr>
                        <a:t> after compilation as it is unique for TS</a:t>
                      </a:r>
                      <a:endParaRPr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Quantico"/>
                        <a:ea typeface="Quantico"/>
                        <a:cs typeface="Quantico"/>
                        <a:sym typeface="Quantic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Quantico"/>
                          <a:ea typeface="Quantico"/>
                          <a:cs typeface="Quantico"/>
                          <a:sym typeface="Quantico"/>
                        </a:rPr>
                        <a:t>Disappears after compilation as it is unique for TS</a:t>
                      </a:r>
                      <a:endParaRPr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Quantico"/>
                        <a:ea typeface="Quantico"/>
                        <a:cs typeface="Quantico"/>
                        <a:sym typeface="Quantic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Quantico"/>
                          <a:ea typeface="Quantico"/>
                          <a:cs typeface="Quantico"/>
                          <a:sym typeface="Quantico"/>
                        </a:rPr>
                        <a:t>Exists at runtime, in the JS code</a:t>
                      </a:r>
                      <a:endParaRPr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Quantico"/>
                        <a:ea typeface="Quantico"/>
                        <a:cs typeface="Quantico"/>
                        <a:sym typeface="Quantic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Quantico"/>
                          <a:ea typeface="Quantico"/>
                          <a:cs typeface="Quantico"/>
                          <a:sym typeface="Quantico"/>
                        </a:rPr>
                        <a:t>Exists at runtime, in the JS code</a:t>
                      </a:r>
                      <a:endParaRPr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Quantico"/>
                        <a:ea typeface="Quantico"/>
                        <a:cs typeface="Quantico"/>
                        <a:sym typeface="Quantico"/>
                      </a:endParaRPr>
                    </a:p>
                  </a:txBody>
                  <a:tcPr marT="91425" marB="91425" marR="91425" marL="91425"/>
                </a:tc>
              </a:tr>
              <a:tr h="769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Quantico"/>
                          <a:ea typeface="Quantico"/>
                          <a:cs typeface="Quantico"/>
                          <a:sym typeface="Quantico"/>
                        </a:rPr>
                        <a:t>A way to define shapes and aliases for type checking</a:t>
                      </a:r>
                      <a:endParaRPr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Quantico"/>
                        <a:ea typeface="Quantico"/>
                        <a:cs typeface="Quantico"/>
                        <a:sym typeface="Quantic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Quantico"/>
                          <a:ea typeface="Quantico"/>
                          <a:cs typeface="Quantico"/>
                          <a:sym typeface="Quantico"/>
                        </a:rPr>
                        <a:t>A contract that defines object structure</a:t>
                      </a:r>
                      <a:endParaRPr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Quantico"/>
                        <a:ea typeface="Quantico"/>
                        <a:cs typeface="Quantico"/>
                        <a:sym typeface="Quantic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Quantico"/>
                          <a:ea typeface="Quantico"/>
                          <a:cs typeface="Quantico"/>
                          <a:sym typeface="Quantico"/>
                        </a:rPr>
                        <a:t>A blueprint for creating objects with behavior</a:t>
                      </a:r>
                      <a:endParaRPr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Quantico"/>
                        <a:ea typeface="Quantico"/>
                        <a:cs typeface="Quantico"/>
                        <a:sym typeface="Quantic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  <a:latin typeface="Quantico"/>
                          <a:ea typeface="Quantico"/>
                          <a:cs typeface="Quantico"/>
                          <a:sym typeface="Quantico"/>
                        </a:rPr>
                        <a:t>Actual data stored in memory</a:t>
                      </a:r>
                      <a:endParaRPr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  <a:latin typeface="Quantico"/>
                        <a:ea typeface="Quantico"/>
                        <a:cs typeface="Quantico"/>
                        <a:sym typeface="Quantic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2"/>
          <p:cNvSpPr txBox="1"/>
          <p:nvPr>
            <p:ph type="title"/>
          </p:nvPr>
        </p:nvSpPr>
        <p:spPr>
          <a:xfrm>
            <a:off x="720000" y="539500"/>
            <a:ext cx="7704000" cy="99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A question for next session</a:t>
            </a:r>
            <a:endParaRPr sz="4000"/>
          </a:p>
        </p:txBody>
      </p:sp>
      <p:sp>
        <p:nvSpPr>
          <p:cNvPr id="182" name="Google Shape;182;p32"/>
          <p:cNvSpPr txBox="1"/>
          <p:nvPr>
            <p:ph idx="1" type="body"/>
          </p:nvPr>
        </p:nvSpPr>
        <p:spPr>
          <a:xfrm>
            <a:off x="720000" y="1809700"/>
            <a:ext cx="7704000" cy="25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latin typeface="Quantico"/>
                <a:ea typeface="Quantico"/>
                <a:cs typeface="Quantico"/>
                <a:sym typeface="Quantico"/>
              </a:rPr>
              <a:t>What is partial type in </a:t>
            </a:r>
            <a:r>
              <a:rPr lang="en" sz="4000">
                <a:solidFill>
                  <a:srgbClr val="4A86E8"/>
                </a:solidFill>
                <a:latin typeface="Quantico"/>
                <a:ea typeface="Quantico"/>
                <a:cs typeface="Quantico"/>
                <a:sym typeface="Quantico"/>
              </a:rPr>
              <a:t>TypeScript</a:t>
            </a:r>
            <a:r>
              <a:rPr lang="en" sz="4000">
                <a:latin typeface="Quantico"/>
                <a:ea typeface="Quantico"/>
                <a:cs typeface="Quantico"/>
                <a:sym typeface="Quantico"/>
              </a:rPr>
              <a:t>?</a:t>
            </a:r>
            <a:endParaRPr sz="4000">
              <a:latin typeface="Quantico"/>
              <a:ea typeface="Quantico"/>
              <a:cs typeface="Quantico"/>
              <a:sym typeface="Quantic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3"/>
          <p:cNvSpPr txBox="1"/>
          <p:nvPr/>
        </p:nvSpPr>
        <p:spPr>
          <a:xfrm>
            <a:off x="479125" y="950375"/>
            <a:ext cx="53073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569CD6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function</a:t>
            </a:r>
            <a:r>
              <a:rPr lang="en" sz="10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 </a:t>
            </a:r>
            <a:r>
              <a:rPr lang="en" sz="1050">
                <a:solidFill>
                  <a:srgbClr val="C8C8C8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CalculateArea</a:t>
            </a:r>
            <a:r>
              <a:rPr lang="en" sz="10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 (</a:t>
            </a:r>
            <a:r>
              <a:rPr lang="en" sz="1050">
                <a:solidFill>
                  <a:srgbClr val="7F7F7F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Length</a:t>
            </a:r>
            <a:r>
              <a:rPr lang="en" sz="10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, </a:t>
            </a:r>
            <a:r>
              <a:rPr lang="en" sz="1050">
                <a:solidFill>
                  <a:srgbClr val="7F7F7F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Width</a:t>
            </a:r>
            <a:r>
              <a:rPr lang="en" sz="10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) {</a:t>
            </a:r>
            <a:endParaRPr sz="1050">
              <a:solidFill>
                <a:srgbClr val="D4D4D4"/>
              </a:solidFill>
              <a:highlight>
                <a:schemeClr val="lt1"/>
              </a:highlight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    </a:t>
            </a:r>
            <a:r>
              <a:rPr lang="en" sz="1050">
                <a:solidFill>
                  <a:srgbClr val="569CD6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return</a:t>
            </a:r>
            <a:r>
              <a:rPr lang="en" sz="10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 </a:t>
            </a:r>
            <a:r>
              <a:rPr lang="en" sz="1050">
                <a:solidFill>
                  <a:srgbClr val="7F7F7F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Length</a:t>
            </a:r>
            <a:r>
              <a:rPr lang="en" sz="10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*</a:t>
            </a:r>
            <a:r>
              <a:rPr lang="en" sz="1050">
                <a:solidFill>
                  <a:srgbClr val="7F7F7F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Width</a:t>
            </a:r>
            <a:r>
              <a:rPr lang="en" sz="10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;</a:t>
            </a:r>
            <a:endParaRPr sz="1050">
              <a:solidFill>
                <a:srgbClr val="D4D4D4"/>
              </a:solidFill>
              <a:highlight>
                <a:schemeClr val="lt1"/>
              </a:highlight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}</a:t>
            </a:r>
            <a:endParaRPr sz="1050">
              <a:solidFill>
                <a:srgbClr val="D4D4D4"/>
              </a:solidFill>
              <a:highlight>
                <a:schemeClr val="lt1"/>
              </a:highlight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D4D4D4"/>
              </a:solidFill>
              <a:highlight>
                <a:schemeClr val="lt1"/>
              </a:highlight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569CD6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let</a:t>
            </a:r>
            <a:r>
              <a:rPr lang="en" sz="10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 </a:t>
            </a:r>
            <a:r>
              <a:rPr lang="en" sz="1050">
                <a:solidFill>
                  <a:srgbClr val="C8C8C8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area</a:t>
            </a:r>
            <a:r>
              <a:rPr lang="en" sz="10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 = </a:t>
            </a:r>
            <a:r>
              <a:rPr lang="en" sz="1050">
                <a:solidFill>
                  <a:srgbClr val="C8C8C8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CalculateArea</a:t>
            </a:r>
            <a:r>
              <a:rPr lang="en" sz="10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(</a:t>
            </a:r>
            <a:r>
              <a:rPr lang="en" sz="1050">
                <a:solidFill>
                  <a:srgbClr val="B5CEA8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2</a:t>
            </a:r>
            <a:r>
              <a:rPr lang="en" sz="10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,</a:t>
            </a:r>
            <a:r>
              <a:rPr lang="en" sz="1050">
                <a:solidFill>
                  <a:srgbClr val="B5CEA8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3</a:t>
            </a:r>
            <a:r>
              <a:rPr lang="en" sz="10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); </a:t>
            </a:r>
            <a:r>
              <a:rPr lang="en" sz="1050">
                <a:solidFill>
                  <a:srgbClr val="6A9955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// Works fine</a:t>
            </a:r>
            <a:endParaRPr sz="1050">
              <a:solidFill>
                <a:srgbClr val="6A9955"/>
              </a:solidFill>
              <a:highlight>
                <a:schemeClr val="lt1"/>
              </a:highlight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C8C8C8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area</a:t>
            </a:r>
            <a:r>
              <a:rPr lang="en" sz="10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 = </a:t>
            </a:r>
            <a:r>
              <a:rPr lang="en" sz="1050">
                <a:solidFill>
                  <a:srgbClr val="C8C8C8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CalculateArea</a:t>
            </a:r>
            <a:r>
              <a:rPr lang="en" sz="10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(</a:t>
            </a:r>
            <a:r>
              <a:rPr lang="en" sz="1050">
                <a:solidFill>
                  <a:srgbClr val="B5CEA8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2</a:t>
            </a:r>
            <a:r>
              <a:rPr lang="en" sz="10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,</a:t>
            </a:r>
            <a:r>
              <a:rPr lang="en" sz="1050">
                <a:solidFill>
                  <a:srgbClr val="CE9178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"3"</a:t>
            </a:r>
            <a:r>
              <a:rPr lang="en" sz="10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);   </a:t>
            </a:r>
            <a:r>
              <a:rPr lang="en" sz="1050">
                <a:solidFill>
                  <a:srgbClr val="6A9955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// Works fine (isn’t supposed to)</a:t>
            </a:r>
            <a:endParaRPr sz="1050">
              <a:solidFill>
                <a:srgbClr val="6A9955"/>
              </a:solidFill>
              <a:highlight>
                <a:schemeClr val="lt1"/>
              </a:highlight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569CD6"/>
              </a:solidFill>
              <a:highlight>
                <a:schemeClr val="lt1"/>
              </a:highlight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88" name="Google Shape;188;p33"/>
          <p:cNvSpPr txBox="1"/>
          <p:nvPr/>
        </p:nvSpPr>
        <p:spPr>
          <a:xfrm>
            <a:off x="479125" y="2822725"/>
            <a:ext cx="55695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569CD6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function</a:t>
            </a:r>
            <a:r>
              <a:rPr lang="en" sz="10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 </a:t>
            </a:r>
            <a:r>
              <a:rPr lang="en" sz="1050">
                <a:solidFill>
                  <a:srgbClr val="C8C8C8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CalculateArea</a:t>
            </a:r>
            <a:r>
              <a:rPr lang="en" sz="10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 (</a:t>
            </a:r>
            <a:r>
              <a:rPr lang="en" sz="1050">
                <a:solidFill>
                  <a:srgbClr val="7F7F7F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Length</a:t>
            </a:r>
            <a:r>
              <a:rPr lang="en" sz="10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: number, </a:t>
            </a:r>
            <a:r>
              <a:rPr lang="en" sz="1050">
                <a:solidFill>
                  <a:srgbClr val="7F7F7F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Width</a:t>
            </a:r>
            <a:r>
              <a:rPr lang="en" sz="10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: number): number {</a:t>
            </a:r>
            <a:endParaRPr sz="1050">
              <a:solidFill>
                <a:srgbClr val="D4D4D4"/>
              </a:solidFill>
              <a:highlight>
                <a:schemeClr val="lt1"/>
              </a:highlight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    </a:t>
            </a:r>
            <a:r>
              <a:rPr lang="en" sz="1050">
                <a:solidFill>
                  <a:srgbClr val="569CD6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return</a:t>
            </a:r>
            <a:r>
              <a:rPr lang="en" sz="10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 </a:t>
            </a:r>
            <a:r>
              <a:rPr lang="en" sz="1050">
                <a:solidFill>
                  <a:srgbClr val="7F7F7F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Length</a:t>
            </a:r>
            <a:r>
              <a:rPr lang="en" sz="10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*</a:t>
            </a:r>
            <a:r>
              <a:rPr lang="en" sz="1050">
                <a:solidFill>
                  <a:srgbClr val="7F7F7F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Width</a:t>
            </a:r>
            <a:r>
              <a:rPr lang="en" sz="10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;</a:t>
            </a:r>
            <a:endParaRPr sz="1050">
              <a:solidFill>
                <a:srgbClr val="D4D4D4"/>
              </a:solidFill>
              <a:highlight>
                <a:schemeClr val="lt1"/>
              </a:highlight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}</a:t>
            </a:r>
            <a:endParaRPr sz="1050">
              <a:solidFill>
                <a:srgbClr val="D4D4D4"/>
              </a:solidFill>
              <a:highlight>
                <a:schemeClr val="lt1"/>
              </a:highlight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D4D4D4"/>
              </a:solidFill>
              <a:highlight>
                <a:schemeClr val="lt1"/>
              </a:highlight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569CD6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let</a:t>
            </a:r>
            <a:r>
              <a:rPr lang="en" sz="10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 </a:t>
            </a:r>
            <a:r>
              <a:rPr lang="en" sz="1050">
                <a:solidFill>
                  <a:srgbClr val="C8C8C8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area</a:t>
            </a:r>
            <a:r>
              <a:rPr lang="en" sz="10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 = </a:t>
            </a:r>
            <a:r>
              <a:rPr lang="en" sz="1050">
                <a:solidFill>
                  <a:srgbClr val="C8C8C8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CalculateArea</a:t>
            </a:r>
            <a:r>
              <a:rPr lang="en" sz="10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(</a:t>
            </a:r>
            <a:r>
              <a:rPr lang="en" sz="1050">
                <a:solidFill>
                  <a:srgbClr val="B5CEA8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2</a:t>
            </a:r>
            <a:r>
              <a:rPr lang="en" sz="10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,</a:t>
            </a:r>
            <a:r>
              <a:rPr lang="en" sz="1050">
                <a:solidFill>
                  <a:srgbClr val="B5CEA8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3</a:t>
            </a:r>
            <a:r>
              <a:rPr lang="en" sz="10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);   </a:t>
            </a:r>
            <a:r>
              <a:rPr lang="en" sz="1050">
                <a:solidFill>
                  <a:srgbClr val="6A9955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// Works fine</a:t>
            </a:r>
            <a:endParaRPr sz="1050">
              <a:solidFill>
                <a:srgbClr val="6A9955"/>
              </a:solidFill>
              <a:highlight>
                <a:schemeClr val="lt1"/>
              </a:highlight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C8C8C8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area</a:t>
            </a:r>
            <a:r>
              <a:rPr lang="en" sz="10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 = </a:t>
            </a:r>
            <a:r>
              <a:rPr lang="en" sz="1050">
                <a:solidFill>
                  <a:srgbClr val="C8C8C8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CalculateArea</a:t>
            </a:r>
            <a:r>
              <a:rPr lang="en" sz="10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(</a:t>
            </a:r>
            <a:r>
              <a:rPr lang="en" sz="1050">
                <a:solidFill>
                  <a:srgbClr val="B5CEA8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2</a:t>
            </a:r>
            <a:r>
              <a:rPr lang="en" sz="10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,</a:t>
            </a:r>
            <a:r>
              <a:rPr lang="en" sz="1050">
                <a:solidFill>
                  <a:srgbClr val="CE9178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"3"</a:t>
            </a:r>
            <a:r>
              <a:rPr lang="en" sz="10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);     </a:t>
            </a:r>
            <a:r>
              <a:rPr lang="en" sz="1050">
                <a:solidFill>
                  <a:srgbClr val="6A9955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// Compile Time error</a:t>
            </a:r>
            <a:endParaRPr sz="1050">
              <a:solidFill>
                <a:srgbClr val="6A9955"/>
              </a:solidFill>
              <a:highlight>
                <a:schemeClr val="lt1"/>
              </a:highlight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569CD6"/>
              </a:solidFill>
              <a:highlight>
                <a:schemeClr val="lt1"/>
              </a:highlight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89" name="Google Shape;189;p33"/>
          <p:cNvSpPr txBox="1"/>
          <p:nvPr/>
        </p:nvSpPr>
        <p:spPr>
          <a:xfrm>
            <a:off x="5786450" y="802975"/>
            <a:ext cx="2806500" cy="14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00"/>
                </a:solidFill>
                <a:latin typeface="Quantico"/>
                <a:ea typeface="Quantico"/>
                <a:cs typeface="Quantico"/>
                <a:sym typeface="Quantico"/>
              </a:rPr>
              <a:t>JavaScript</a:t>
            </a:r>
            <a:endParaRPr sz="2000">
              <a:solidFill>
                <a:srgbClr val="FFFF00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90" name="Google Shape;190;p33"/>
          <p:cNvSpPr txBox="1"/>
          <p:nvPr/>
        </p:nvSpPr>
        <p:spPr>
          <a:xfrm>
            <a:off x="5786450" y="2919475"/>
            <a:ext cx="2806500" cy="14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4A86E8"/>
                </a:solidFill>
                <a:latin typeface="Quantico"/>
                <a:ea typeface="Quantico"/>
                <a:cs typeface="Quantico"/>
                <a:sym typeface="Quantico"/>
              </a:rPr>
              <a:t>TypeScript</a:t>
            </a:r>
            <a:endParaRPr sz="2000">
              <a:solidFill>
                <a:srgbClr val="4A86E8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cxnSp>
        <p:nvCxnSpPr>
          <p:cNvPr id="191" name="Google Shape;191;p33"/>
          <p:cNvCxnSpPr/>
          <p:nvPr/>
        </p:nvCxnSpPr>
        <p:spPr>
          <a:xfrm flipH="1" rot="10800000">
            <a:off x="-12275" y="2599500"/>
            <a:ext cx="9162300" cy="10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4"/>
          <p:cNvSpPr txBox="1"/>
          <p:nvPr>
            <p:ph type="title"/>
          </p:nvPr>
        </p:nvSpPr>
        <p:spPr>
          <a:xfrm>
            <a:off x="348725" y="206425"/>
            <a:ext cx="7737300" cy="100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4A86E8"/>
                </a:solidFill>
              </a:rPr>
              <a:t>&lt;/ </a:t>
            </a:r>
            <a:r>
              <a:rPr lang="en" sz="3600"/>
              <a:t>Top-down vs Bottom-up flows</a:t>
            </a:r>
            <a:endParaRPr sz="3600"/>
          </a:p>
        </p:txBody>
      </p:sp>
      <p:sp>
        <p:nvSpPr>
          <p:cNvPr id="197" name="Google Shape;197;p34"/>
          <p:cNvSpPr txBox="1"/>
          <p:nvPr>
            <p:ph idx="1" type="body"/>
          </p:nvPr>
        </p:nvSpPr>
        <p:spPr>
          <a:xfrm>
            <a:off x="348725" y="1206925"/>
            <a:ext cx="4223700" cy="345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Top-Down</a:t>
            </a:r>
            <a:endParaRPr sz="1950">
              <a:solidFill>
                <a:srgbClr val="D4D4D4"/>
              </a:solidFill>
              <a:highlight>
                <a:schemeClr val="lt1"/>
              </a:highlight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569CD6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interface</a:t>
            </a:r>
            <a:r>
              <a:rPr lang="en" sz="11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 </a:t>
            </a:r>
            <a:r>
              <a:rPr lang="en" sz="1150">
                <a:solidFill>
                  <a:srgbClr val="4EC9B0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User</a:t>
            </a:r>
            <a:r>
              <a:rPr lang="en" sz="11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 {</a:t>
            </a:r>
            <a:endParaRPr sz="1150">
              <a:solidFill>
                <a:srgbClr val="D4D4D4"/>
              </a:solidFill>
              <a:highlight>
                <a:schemeClr val="lt1"/>
              </a:highlight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    </a:t>
            </a:r>
            <a:r>
              <a:rPr lang="en" sz="1150">
                <a:solidFill>
                  <a:srgbClr val="DADADA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id</a:t>
            </a:r>
            <a:r>
              <a:rPr lang="en" sz="11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: number;</a:t>
            </a:r>
            <a:endParaRPr sz="1150">
              <a:solidFill>
                <a:srgbClr val="D4D4D4"/>
              </a:solidFill>
              <a:highlight>
                <a:schemeClr val="lt1"/>
              </a:highlight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    </a:t>
            </a:r>
            <a:r>
              <a:rPr lang="en" sz="1150">
                <a:solidFill>
                  <a:srgbClr val="DADADA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name</a:t>
            </a:r>
            <a:r>
              <a:rPr lang="en" sz="11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: string;</a:t>
            </a:r>
            <a:endParaRPr sz="1150">
              <a:solidFill>
                <a:srgbClr val="D4D4D4"/>
              </a:solidFill>
              <a:highlight>
                <a:schemeClr val="lt1"/>
              </a:highlight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    </a:t>
            </a:r>
            <a:r>
              <a:rPr lang="en" sz="1150">
                <a:solidFill>
                  <a:srgbClr val="DADADA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address</a:t>
            </a:r>
            <a:r>
              <a:rPr lang="en" sz="11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: </a:t>
            </a:r>
            <a:r>
              <a:rPr lang="en" sz="1150">
                <a:solidFill>
                  <a:srgbClr val="4EC9B0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Address</a:t>
            </a:r>
            <a:r>
              <a:rPr lang="en" sz="11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;</a:t>
            </a:r>
            <a:endParaRPr sz="1150">
              <a:solidFill>
                <a:srgbClr val="D4D4D4"/>
              </a:solidFill>
              <a:highlight>
                <a:schemeClr val="lt1"/>
              </a:highlight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    </a:t>
            </a:r>
            <a:r>
              <a:rPr lang="en" sz="1150">
                <a:solidFill>
                  <a:srgbClr val="DADADA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roles</a:t>
            </a:r>
            <a:r>
              <a:rPr lang="en" sz="11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: </a:t>
            </a:r>
            <a:r>
              <a:rPr lang="en" sz="1150">
                <a:solidFill>
                  <a:srgbClr val="4EC9B0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Role</a:t>
            </a:r>
            <a:r>
              <a:rPr lang="en" sz="11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[];</a:t>
            </a:r>
            <a:endParaRPr sz="1150">
              <a:solidFill>
                <a:srgbClr val="D4D4D4"/>
              </a:solidFill>
              <a:highlight>
                <a:schemeClr val="lt1"/>
              </a:highlight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}</a:t>
            </a:r>
            <a:endParaRPr sz="1150">
              <a:solidFill>
                <a:srgbClr val="D4D4D4"/>
              </a:solidFill>
              <a:highlight>
                <a:schemeClr val="lt1"/>
              </a:highlight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D4D4D4"/>
              </a:solidFill>
              <a:highlight>
                <a:schemeClr val="lt1"/>
              </a:highlight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569CD6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interface</a:t>
            </a:r>
            <a:r>
              <a:rPr lang="en" sz="11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 </a:t>
            </a:r>
            <a:r>
              <a:rPr lang="en" sz="1150">
                <a:solidFill>
                  <a:srgbClr val="4EC9B0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Address</a:t>
            </a:r>
            <a:r>
              <a:rPr lang="en" sz="11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 {</a:t>
            </a:r>
            <a:endParaRPr sz="1150">
              <a:solidFill>
                <a:srgbClr val="D4D4D4"/>
              </a:solidFill>
              <a:highlight>
                <a:schemeClr val="lt1"/>
              </a:highlight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    </a:t>
            </a:r>
            <a:r>
              <a:rPr lang="en" sz="1150">
                <a:solidFill>
                  <a:srgbClr val="DADADA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city</a:t>
            </a:r>
            <a:r>
              <a:rPr lang="en" sz="11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: string;</a:t>
            </a:r>
            <a:endParaRPr sz="1150">
              <a:solidFill>
                <a:srgbClr val="D4D4D4"/>
              </a:solidFill>
              <a:highlight>
                <a:schemeClr val="lt1"/>
              </a:highlight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    </a:t>
            </a:r>
            <a:r>
              <a:rPr lang="en" sz="1150">
                <a:solidFill>
                  <a:srgbClr val="DADADA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street</a:t>
            </a:r>
            <a:r>
              <a:rPr lang="en" sz="11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: string;</a:t>
            </a:r>
            <a:endParaRPr sz="1150">
              <a:solidFill>
                <a:srgbClr val="D4D4D4"/>
              </a:solidFill>
              <a:highlight>
                <a:schemeClr val="lt1"/>
              </a:highlight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}</a:t>
            </a:r>
            <a:endParaRPr sz="1150">
              <a:solidFill>
                <a:srgbClr val="D4D4D4"/>
              </a:solidFill>
              <a:highlight>
                <a:schemeClr val="lt1"/>
              </a:highlight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569CD6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type</a:t>
            </a:r>
            <a:r>
              <a:rPr lang="en" sz="11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 </a:t>
            </a:r>
            <a:r>
              <a:rPr lang="en" sz="1150">
                <a:solidFill>
                  <a:srgbClr val="4EC9B0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Role</a:t>
            </a:r>
            <a:r>
              <a:rPr lang="en" sz="11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 = </a:t>
            </a:r>
            <a:r>
              <a:rPr lang="en" sz="1150">
                <a:solidFill>
                  <a:srgbClr val="CE9178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"admin"</a:t>
            </a:r>
            <a:r>
              <a:rPr lang="en" sz="11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 | </a:t>
            </a:r>
            <a:r>
              <a:rPr lang="en" sz="1150">
                <a:solidFill>
                  <a:srgbClr val="CE9178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"member"</a:t>
            </a:r>
            <a:r>
              <a:rPr lang="en" sz="11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 | </a:t>
            </a:r>
            <a:r>
              <a:rPr lang="en" sz="1150">
                <a:solidFill>
                  <a:srgbClr val="CE9178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"guest"</a:t>
            </a:r>
            <a:r>
              <a:rPr lang="en" sz="11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;</a:t>
            </a:r>
            <a:endParaRPr sz="2750">
              <a:highlight>
                <a:schemeClr val="lt1"/>
              </a:highlight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98" name="Google Shape;198;p34"/>
          <p:cNvSpPr txBox="1"/>
          <p:nvPr>
            <p:ph idx="1" type="body"/>
          </p:nvPr>
        </p:nvSpPr>
        <p:spPr>
          <a:xfrm>
            <a:off x="4776100" y="1206925"/>
            <a:ext cx="4223700" cy="345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Bottom-up</a:t>
            </a:r>
            <a:endParaRPr sz="1950">
              <a:solidFill>
                <a:srgbClr val="D4D4D4"/>
              </a:solidFill>
              <a:highlight>
                <a:schemeClr val="lt1"/>
              </a:highlight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569CD6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interface</a:t>
            </a:r>
            <a:r>
              <a:rPr lang="en" sz="11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 </a:t>
            </a:r>
            <a:r>
              <a:rPr lang="en" sz="1150">
                <a:solidFill>
                  <a:srgbClr val="4EC9B0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Id</a:t>
            </a:r>
            <a:r>
              <a:rPr lang="en" sz="11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 {</a:t>
            </a:r>
            <a:endParaRPr sz="1150">
              <a:solidFill>
                <a:srgbClr val="D4D4D4"/>
              </a:solidFill>
              <a:highlight>
                <a:schemeClr val="lt1"/>
              </a:highlight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    </a:t>
            </a:r>
            <a:r>
              <a:rPr lang="en" sz="1150">
                <a:solidFill>
                  <a:srgbClr val="DADADA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id</a:t>
            </a:r>
            <a:r>
              <a:rPr lang="en" sz="11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: number;</a:t>
            </a:r>
            <a:endParaRPr sz="1150">
              <a:solidFill>
                <a:srgbClr val="D4D4D4"/>
              </a:solidFill>
              <a:highlight>
                <a:schemeClr val="lt1"/>
              </a:highlight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}</a:t>
            </a:r>
            <a:endParaRPr sz="1150">
              <a:solidFill>
                <a:srgbClr val="D4D4D4"/>
              </a:solidFill>
              <a:highlight>
                <a:schemeClr val="lt1"/>
              </a:highlight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569CD6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interface</a:t>
            </a:r>
            <a:r>
              <a:rPr lang="en" sz="11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 </a:t>
            </a:r>
            <a:r>
              <a:rPr lang="en" sz="1150">
                <a:solidFill>
                  <a:srgbClr val="4EC9B0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Name</a:t>
            </a:r>
            <a:r>
              <a:rPr lang="en" sz="11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 {</a:t>
            </a:r>
            <a:endParaRPr sz="1150">
              <a:solidFill>
                <a:srgbClr val="D4D4D4"/>
              </a:solidFill>
              <a:highlight>
                <a:schemeClr val="lt1"/>
              </a:highlight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    </a:t>
            </a:r>
            <a:r>
              <a:rPr lang="en" sz="1150">
                <a:solidFill>
                  <a:srgbClr val="DADADA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name</a:t>
            </a:r>
            <a:r>
              <a:rPr lang="en" sz="11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: string;</a:t>
            </a:r>
            <a:endParaRPr sz="1150">
              <a:solidFill>
                <a:srgbClr val="D4D4D4"/>
              </a:solidFill>
              <a:highlight>
                <a:schemeClr val="lt1"/>
              </a:highlight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}</a:t>
            </a:r>
            <a:endParaRPr sz="1150">
              <a:solidFill>
                <a:srgbClr val="D4D4D4"/>
              </a:solidFill>
              <a:highlight>
                <a:schemeClr val="lt1"/>
              </a:highlight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569CD6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type</a:t>
            </a:r>
            <a:r>
              <a:rPr lang="en" sz="11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 </a:t>
            </a:r>
            <a:r>
              <a:rPr lang="en" sz="1150">
                <a:solidFill>
                  <a:srgbClr val="4EC9B0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Role</a:t>
            </a:r>
            <a:r>
              <a:rPr lang="en" sz="11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 = </a:t>
            </a:r>
            <a:r>
              <a:rPr lang="en" sz="1150">
                <a:solidFill>
                  <a:srgbClr val="CE9178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"admin"</a:t>
            </a:r>
            <a:r>
              <a:rPr lang="en" sz="11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 | </a:t>
            </a:r>
            <a:r>
              <a:rPr lang="en" sz="1150">
                <a:solidFill>
                  <a:srgbClr val="CE9178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"member"</a:t>
            </a:r>
            <a:r>
              <a:rPr lang="en" sz="11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 | </a:t>
            </a:r>
            <a:r>
              <a:rPr lang="en" sz="1150">
                <a:solidFill>
                  <a:srgbClr val="CE9178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"guest"</a:t>
            </a:r>
            <a:r>
              <a:rPr lang="en" sz="11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;</a:t>
            </a:r>
            <a:endParaRPr sz="1150">
              <a:solidFill>
                <a:srgbClr val="D4D4D4"/>
              </a:solidFill>
              <a:highlight>
                <a:schemeClr val="lt1"/>
              </a:highlight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D4D4D4"/>
              </a:solidFill>
              <a:highlight>
                <a:schemeClr val="lt1"/>
              </a:highlight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569CD6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interface</a:t>
            </a:r>
            <a:r>
              <a:rPr lang="en" sz="11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 </a:t>
            </a:r>
            <a:r>
              <a:rPr lang="en" sz="1150">
                <a:solidFill>
                  <a:srgbClr val="4EC9B0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User</a:t>
            </a:r>
            <a:r>
              <a:rPr lang="en" sz="11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 </a:t>
            </a:r>
            <a:r>
              <a:rPr lang="en" sz="1150">
                <a:solidFill>
                  <a:srgbClr val="569CD6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extends</a:t>
            </a:r>
            <a:r>
              <a:rPr lang="en" sz="11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 </a:t>
            </a:r>
            <a:r>
              <a:rPr lang="en" sz="1150">
                <a:solidFill>
                  <a:srgbClr val="4EC9B0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Id</a:t>
            </a:r>
            <a:r>
              <a:rPr lang="en" sz="11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, </a:t>
            </a:r>
            <a:r>
              <a:rPr lang="en" sz="1150">
                <a:solidFill>
                  <a:srgbClr val="4EC9B0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Named</a:t>
            </a:r>
            <a:r>
              <a:rPr lang="en" sz="11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 {</a:t>
            </a:r>
            <a:endParaRPr sz="1150">
              <a:solidFill>
                <a:srgbClr val="D4D4D4"/>
              </a:solidFill>
              <a:highlight>
                <a:schemeClr val="lt1"/>
              </a:highlight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    </a:t>
            </a:r>
            <a:r>
              <a:rPr lang="en" sz="1150">
                <a:solidFill>
                  <a:srgbClr val="DADADA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roles</a:t>
            </a:r>
            <a:r>
              <a:rPr lang="en" sz="11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: </a:t>
            </a:r>
            <a:r>
              <a:rPr lang="en" sz="1150">
                <a:solidFill>
                  <a:srgbClr val="4EC9B0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Role</a:t>
            </a:r>
            <a:r>
              <a:rPr lang="en" sz="11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[];</a:t>
            </a:r>
            <a:endParaRPr sz="1150">
              <a:solidFill>
                <a:srgbClr val="D4D4D4"/>
              </a:solidFill>
              <a:highlight>
                <a:schemeClr val="lt1"/>
              </a:highlight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D4D4D4"/>
                </a:solidFill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}</a:t>
            </a:r>
            <a:endParaRPr sz="1150">
              <a:solidFill>
                <a:srgbClr val="D4D4D4"/>
              </a:solidFill>
              <a:highlight>
                <a:schemeClr val="lt1"/>
              </a:highlight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0">
              <a:highlight>
                <a:schemeClr val="lt1"/>
              </a:highlight>
              <a:latin typeface="Quantico"/>
              <a:ea typeface="Quantico"/>
              <a:cs typeface="Quantico"/>
              <a:sym typeface="Quantic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3" name="Google Shape;203;p35"/>
          <p:cNvGraphicFramePr/>
          <p:nvPr/>
        </p:nvGraphicFramePr>
        <p:xfrm>
          <a:off x="952500" y="915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{B9C19790-A5D9-4618-B8C2-A2C1B9E673F2}</a:tableStyleId>
              </a:tblPr>
              <a:tblGrid>
                <a:gridCol w="3619500"/>
                <a:gridCol w="3619500"/>
              </a:tblGrid>
              <a:tr h="621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dk1"/>
                          </a:solidFill>
                          <a:latin typeface="Quantico"/>
                          <a:ea typeface="Quantico"/>
                          <a:cs typeface="Quantico"/>
                          <a:sym typeface="Quantico"/>
                        </a:rPr>
                        <a:t>Bottom up</a:t>
                      </a:r>
                      <a:endParaRPr sz="3200">
                        <a:solidFill>
                          <a:schemeClr val="dk1"/>
                        </a:solidFill>
                        <a:latin typeface="Quantico"/>
                        <a:ea typeface="Quantico"/>
                        <a:cs typeface="Quantico"/>
                        <a:sym typeface="Quantic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solidFill>
                            <a:schemeClr val="dk1"/>
                          </a:solidFill>
                          <a:latin typeface="Quantico"/>
                          <a:ea typeface="Quantico"/>
                          <a:cs typeface="Quantico"/>
                          <a:sym typeface="Quantico"/>
                        </a:rPr>
                        <a:t>Top down</a:t>
                      </a:r>
                      <a:endParaRPr sz="3200">
                        <a:solidFill>
                          <a:schemeClr val="dk1"/>
                        </a:solidFill>
                        <a:latin typeface="Quantico"/>
                        <a:ea typeface="Quantico"/>
                        <a:cs typeface="Quantico"/>
                        <a:sym typeface="Quantico"/>
                      </a:endParaRPr>
                    </a:p>
                  </a:txBody>
                  <a:tcPr marT="91425" marB="91425" marR="91425" marL="91425"/>
                </a:tc>
              </a:tr>
              <a:tr h="448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Quantico"/>
                          <a:ea typeface="Quantico"/>
                          <a:cs typeface="Quantico"/>
                          <a:sym typeface="Quantico"/>
                        </a:rPr>
                        <a:t>Start small then build up</a:t>
                      </a:r>
                      <a:endParaRPr sz="2400">
                        <a:solidFill>
                          <a:schemeClr val="dk1"/>
                        </a:solidFill>
                        <a:latin typeface="Quantico"/>
                        <a:ea typeface="Quantico"/>
                        <a:cs typeface="Quantico"/>
                        <a:sym typeface="Quantic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Quantico"/>
                          <a:ea typeface="Quantico"/>
                          <a:cs typeface="Quantico"/>
                          <a:sym typeface="Quantico"/>
                        </a:rPr>
                        <a:t>Start big then break down</a:t>
                      </a:r>
                      <a:endParaRPr sz="2400">
                        <a:solidFill>
                          <a:schemeClr val="dk1"/>
                        </a:solidFill>
                        <a:latin typeface="Quantico"/>
                        <a:ea typeface="Quantico"/>
                        <a:cs typeface="Quantico"/>
                        <a:sym typeface="Quantico"/>
                      </a:endParaRPr>
                    </a:p>
                  </a:txBody>
                  <a:tcPr marT="91425" marB="91425" marR="91425" marL="91425"/>
                </a:tc>
              </a:tr>
              <a:tr h="636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Quantico"/>
                          <a:ea typeface="Quantico"/>
                          <a:cs typeface="Quantico"/>
                          <a:sym typeface="Quantico"/>
                        </a:rPr>
                        <a:t>Build all pieces then assemble</a:t>
                      </a:r>
                      <a:endParaRPr sz="2400">
                        <a:solidFill>
                          <a:schemeClr val="dk1"/>
                        </a:solidFill>
                        <a:latin typeface="Quantico"/>
                        <a:ea typeface="Quantico"/>
                        <a:cs typeface="Quantico"/>
                        <a:sym typeface="Quantic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Quantico"/>
                          <a:ea typeface="Quantico"/>
                          <a:cs typeface="Quantico"/>
                          <a:sym typeface="Quantico"/>
                        </a:rPr>
                        <a:t>Write what you want first then define how later</a:t>
                      </a:r>
                      <a:endParaRPr sz="2400">
                        <a:solidFill>
                          <a:schemeClr val="dk1"/>
                        </a:solidFill>
                        <a:latin typeface="Quantico"/>
                        <a:ea typeface="Quantico"/>
                        <a:cs typeface="Quantico"/>
                        <a:sym typeface="Quantic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6"/>
          <p:cNvSpPr txBox="1"/>
          <p:nvPr>
            <p:ph type="title"/>
          </p:nvPr>
        </p:nvSpPr>
        <p:spPr>
          <a:xfrm>
            <a:off x="348725" y="206425"/>
            <a:ext cx="6592500" cy="100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4A86E8"/>
                </a:solidFill>
              </a:rPr>
              <a:t>&lt;/ </a:t>
            </a:r>
            <a:r>
              <a:rPr lang="en" sz="3600"/>
              <a:t>Shape </a:t>
            </a:r>
            <a:r>
              <a:rPr lang="en" sz="3600"/>
              <a:t>Compatibility</a:t>
            </a:r>
            <a:endParaRPr sz="3600"/>
          </a:p>
        </p:txBody>
      </p:sp>
      <p:sp>
        <p:nvSpPr>
          <p:cNvPr id="209" name="Google Shape;209;p36"/>
          <p:cNvSpPr txBox="1"/>
          <p:nvPr>
            <p:ph idx="1" type="body"/>
          </p:nvPr>
        </p:nvSpPr>
        <p:spPr>
          <a:xfrm>
            <a:off x="348725" y="1336775"/>
            <a:ext cx="7890000" cy="318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highlight>
                  <a:schemeClr val="lt1"/>
                </a:highlight>
                <a:latin typeface="Quantico"/>
                <a:ea typeface="Quantico"/>
                <a:cs typeface="Quantico"/>
                <a:sym typeface="Quantico"/>
              </a:rPr>
              <a:t>If we define multiple interfaces that have common attributes we can assign an object of the more general interface to an object of the narrower scope interface.</a:t>
            </a:r>
            <a:endParaRPr sz="2800">
              <a:highlight>
                <a:schemeClr val="lt1"/>
              </a:highlight>
              <a:latin typeface="Quantico"/>
              <a:ea typeface="Quantico"/>
              <a:cs typeface="Quantico"/>
              <a:sym typeface="Quantic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7"/>
          <p:cNvSpPr txBox="1"/>
          <p:nvPr>
            <p:ph idx="1" type="body"/>
          </p:nvPr>
        </p:nvSpPr>
        <p:spPr>
          <a:xfrm>
            <a:off x="191600" y="863376"/>
            <a:ext cx="4751700" cy="365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569CD6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interface</a:t>
            </a:r>
            <a:r>
              <a:rPr lang="en" sz="1050">
                <a:solidFill>
                  <a:srgbClr val="D4D4D4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4EC9B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PowerSocket</a:t>
            </a:r>
            <a:r>
              <a:rPr lang="en" sz="1050">
                <a:solidFill>
                  <a:srgbClr val="D4D4D4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50">
              <a:solidFill>
                <a:srgbClr val="D4D4D4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D4D4D4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050">
                <a:solidFill>
                  <a:srgbClr val="DADADA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voltage</a:t>
            </a:r>
            <a:r>
              <a:rPr lang="en" sz="1050">
                <a:solidFill>
                  <a:srgbClr val="D4D4D4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: number;</a:t>
            </a:r>
            <a:endParaRPr sz="1050">
              <a:solidFill>
                <a:srgbClr val="D4D4D4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D4D4D4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050">
                <a:solidFill>
                  <a:srgbClr val="DADADA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frequency</a:t>
            </a:r>
            <a:r>
              <a:rPr lang="en" sz="1050">
                <a:solidFill>
                  <a:srgbClr val="D4D4D4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: number;</a:t>
            </a:r>
            <a:endParaRPr sz="1050">
              <a:solidFill>
                <a:srgbClr val="D4D4D4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D4D4D4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50">
              <a:solidFill>
                <a:srgbClr val="D4D4D4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D4D4D4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569CD6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function</a:t>
            </a:r>
            <a:r>
              <a:rPr lang="en" sz="1050">
                <a:solidFill>
                  <a:srgbClr val="D4D4D4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C8C8C8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plugIn</a:t>
            </a:r>
            <a:r>
              <a:rPr lang="en" sz="1050">
                <a:solidFill>
                  <a:srgbClr val="D4D4D4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50">
                <a:solidFill>
                  <a:srgbClr val="7F7F7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socket</a:t>
            </a:r>
            <a:r>
              <a:rPr lang="en" sz="1050">
                <a:solidFill>
                  <a:srgbClr val="D4D4D4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1050">
                <a:solidFill>
                  <a:srgbClr val="4EC9B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PowerSocket</a:t>
            </a:r>
            <a:r>
              <a:rPr lang="en" sz="1050">
                <a:solidFill>
                  <a:srgbClr val="D4D4D4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050">
              <a:solidFill>
                <a:srgbClr val="D4D4D4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D4D4D4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050">
                <a:solidFill>
                  <a:srgbClr val="C8C8C8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console</a:t>
            </a:r>
            <a:r>
              <a:rPr lang="en" sz="1050">
                <a:solidFill>
                  <a:srgbClr val="D4D4D4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50">
                <a:solidFill>
                  <a:srgbClr val="C8C8C8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lang="en" sz="1050">
                <a:solidFill>
                  <a:srgbClr val="D4D4D4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50">
                <a:solidFill>
                  <a:srgbClr val="CE9178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`Connected to </a:t>
            </a:r>
            <a:r>
              <a:rPr lang="en" sz="1050">
                <a:solidFill>
                  <a:srgbClr val="569CD6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${</a:t>
            </a:r>
            <a:r>
              <a:rPr lang="en" sz="1050">
                <a:solidFill>
                  <a:srgbClr val="7F7F7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socket</a:t>
            </a:r>
            <a:r>
              <a:rPr lang="en" sz="1050">
                <a:solidFill>
                  <a:srgbClr val="D4D4D4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50">
                <a:solidFill>
                  <a:srgbClr val="DADADA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voltage</a:t>
            </a:r>
            <a:r>
              <a:rPr lang="en" sz="1050">
                <a:solidFill>
                  <a:srgbClr val="569CD6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en" sz="1050">
                <a:solidFill>
                  <a:srgbClr val="CE9178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V socket`</a:t>
            </a:r>
            <a:r>
              <a:rPr lang="en" sz="1050">
                <a:solidFill>
                  <a:srgbClr val="D4D4D4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50">
              <a:solidFill>
                <a:srgbClr val="D4D4D4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D4D4D4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50">
              <a:solidFill>
                <a:srgbClr val="D4D4D4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D4D4D4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569CD6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" sz="1050">
                <a:solidFill>
                  <a:srgbClr val="D4D4D4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C8C8C8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euSocket</a:t>
            </a:r>
            <a:r>
              <a:rPr lang="en" sz="1050">
                <a:solidFill>
                  <a:srgbClr val="D4D4D4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= {</a:t>
            </a:r>
            <a:endParaRPr sz="1050">
              <a:solidFill>
                <a:srgbClr val="D4D4D4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D4D4D4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050">
                <a:solidFill>
                  <a:srgbClr val="DADADA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voltage</a:t>
            </a:r>
            <a:r>
              <a:rPr lang="en" sz="1050">
                <a:solidFill>
                  <a:srgbClr val="D4D4D4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1050">
                <a:solidFill>
                  <a:srgbClr val="B5CEA8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230</a:t>
            </a:r>
            <a:r>
              <a:rPr lang="en" sz="1050">
                <a:solidFill>
                  <a:srgbClr val="D4D4D4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050">
              <a:solidFill>
                <a:srgbClr val="D4D4D4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D4D4D4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050">
                <a:solidFill>
                  <a:srgbClr val="DADADA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frequency</a:t>
            </a:r>
            <a:r>
              <a:rPr lang="en" sz="1050">
                <a:solidFill>
                  <a:srgbClr val="D4D4D4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1050">
                <a:solidFill>
                  <a:srgbClr val="B5CEA8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50</a:t>
            </a:r>
            <a:r>
              <a:rPr lang="en" sz="1050">
                <a:solidFill>
                  <a:srgbClr val="D4D4D4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050">
              <a:solidFill>
                <a:srgbClr val="D4D4D4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D4D4D4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050">
                <a:solidFill>
                  <a:srgbClr val="DADADA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country</a:t>
            </a:r>
            <a:r>
              <a:rPr lang="en" sz="1050">
                <a:solidFill>
                  <a:srgbClr val="D4D4D4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1050">
                <a:solidFill>
                  <a:srgbClr val="CE9178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"Germany"</a:t>
            </a:r>
            <a:r>
              <a:rPr lang="en" sz="1050">
                <a:solidFill>
                  <a:srgbClr val="D4D4D4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050">
              <a:solidFill>
                <a:srgbClr val="D4D4D4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D4D4D4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050">
                <a:solidFill>
                  <a:srgbClr val="DADADA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grounded</a:t>
            </a:r>
            <a:r>
              <a:rPr lang="en" sz="1050">
                <a:solidFill>
                  <a:srgbClr val="D4D4D4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1050">
                <a:solidFill>
                  <a:srgbClr val="569CD6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lang="en" sz="1050">
                <a:solidFill>
                  <a:srgbClr val="D4D4D4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 sz="1050">
              <a:solidFill>
                <a:srgbClr val="D4D4D4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D4D4D4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1050">
              <a:solidFill>
                <a:srgbClr val="D4D4D4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D4D4D4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569CD6"/>
              </a:solidFill>
              <a:highlight>
                <a:schemeClr val="lt1"/>
              </a:highlight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215" name="Google Shape;215;p37"/>
          <p:cNvSpPr txBox="1"/>
          <p:nvPr/>
        </p:nvSpPr>
        <p:spPr>
          <a:xfrm>
            <a:off x="5172700" y="750875"/>
            <a:ext cx="3462300" cy="37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D4D4D4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569CD6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" sz="1050">
                <a:solidFill>
                  <a:srgbClr val="D4D4D4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C8C8C8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usSocket</a:t>
            </a:r>
            <a:r>
              <a:rPr lang="en" sz="1050">
                <a:solidFill>
                  <a:srgbClr val="D4D4D4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= {</a:t>
            </a:r>
            <a:endParaRPr sz="1050">
              <a:solidFill>
                <a:srgbClr val="D4D4D4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D4D4D4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050">
                <a:solidFill>
                  <a:srgbClr val="DADADA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voltage</a:t>
            </a:r>
            <a:r>
              <a:rPr lang="en" sz="1050">
                <a:solidFill>
                  <a:srgbClr val="D4D4D4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1050">
                <a:solidFill>
                  <a:srgbClr val="B5CEA8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120</a:t>
            </a:r>
            <a:r>
              <a:rPr lang="en" sz="1050">
                <a:solidFill>
                  <a:srgbClr val="D4D4D4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050">
              <a:solidFill>
                <a:srgbClr val="D4D4D4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D4D4D4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050">
                <a:solidFill>
                  <a:srgbClr val="DADADA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frequency</a:t>
            </a:r>
            <a:r>
              <a:rPr lang="en" sz="1050">
                <a:solidFill>
                  <a:srgbClr val="D4D4D4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1050">
                <a:solidFill>
                  <a:srgbClr val="B5CEA8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60</a:t>
            </a:r>
            <a:r>
              <a:rPr lang="en" sz="1050">
                <a:solidFill>
                  <a:srgbClr val="D4D4D4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050">
              <a:solidFill>
                <a:srgbClr val="D4D4D4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D4D4D4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050">
                <a:solidFill>
                  <a:srgbClr val="DADADA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outlets</a:t>
            </a:r>
            <a:r>
              <a:rPr lang="en" sz="1050">
                <a:solidFill>
                  <a:srgbClr val="D4D4D4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1050">
                <a:solidFill>
                  <a:srgbClr val="B5CEA8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sz="1050">
              <a:solidFill>
                <a:srgbClr val="B5CEA8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D4D4D4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1050">
              <a:solidFill>
                <a:srgbClr val="D4D4D4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D4D4D4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569CD6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" sz="1050">
                <a:solidFill>
                  <a:srgbClr val="D4D4D4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C8C8C8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egyptSocket</a:t>
            </a:r>
            <a:r>
              <a:rPr lang="en" sz="1050">
                <a:solidFill>
                  <a:srgbClr val="D4D4D4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= {</a:t>
            </a:r>
            <a:endParaRPr sz="1050">
              <a:solidFill>
                <a:srgbClr val="D4D4D4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D4D4D4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050">
                <a:solidFill>
                  <a:srgbClr val="DADADA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voltage</a:t>
            </a:r>
            <a:r>
              <a:rPr lang="en" sz="1050">
                <a:solidFill>
                  <a:srgbClr val="D4D4D4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1050">
                <a:solidFill>
                  <a:srgbClr val="B5CEA8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220</a:t>
            </a:r>
            <a:r>
              <a:rPr lang="en" sz="1050">
                <a:solidFill>
                  <a:srgbClr val="D4D4D4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050">
              <a:solidFill>
                <a:srgbClr val="D4D4D4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D4D4D4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050">
                <a:solidFill>
                  <a:srgbClr val="DADADA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frequency</a:t>
            </a:r>
            <a:r>
              <a:rPr lang="en" sz="1050">
                <a:solidFill>
                  <a:srgbClr val="D4D4D4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1050">
                <a:solidFill>
                  <a:srgbClr val="B5CEA8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50</a:t>
            </a:r>
            <a:r>
              <a:rPr lang="en" sz="1050">
                <a:solidFill>
                  <a:srgbClr val="D4D4D4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050">
              <a:solidFill>
                <a:srgbClr val="D4D4D4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D4D4D4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050">
                <a:solidFill>
                  <a:srgbClr val="DADADA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type</a:t>
            </a:r>
            <a:r>
              <a:rPr lang="en" sz="1050">
                <a:solidFill>
                  <a:srgbClr val="D4D4D4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1050">
                <a:solidFill>
                  <a:srgbClr val="CE9178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"C/F"</a:t>
            </a:r>
            <a:endParaRPr sz="1050">
              <a:solidFill>
                <a:srgbClr val="CE9178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D4D4D4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1050">
              <a:solidFill>
                <a:srgbClr val="D4D4D4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D4D4D4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C8C8C8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plugIn</a:t>
            </a:r>
            <a:r>
              <a:rPr lang="en" sz="1050">
                <a:solidFill>
                  <a:srgbClr val="D4D4D4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50">
                <a:solidFill>
                  <a:srgbClr val="C8C8C8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euSocket</a:t>
            </a:r>
            <a:r>
              <a:rPr lang="en" sz="1050">
                <a:solidFill>
                  <a:srgbClr val="D4D4D4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50">
              <a:solidFill>
                <a:srgbClr val="D4D4D4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C8C8C8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plugIn</a:t>
            </a:r>
            <a:r>
              <a:rPr lang="en" sz="1050">
                <a:solidFill>
                  <a:srgbClr val="D4D4D4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50">
                <a:solidFill>
                  <a:srgbClr val="C8C8C8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usSocket</a:t>
            </a:r>
            <a:r>
              <a:rPr lang="en" sz="1050">
                <a:solidFill>
                  <a:srgbClr val="D4D4D4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50">
              <a:solidFill>
                <a:srgbClr val="D4D4D4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C8C8C8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plugIn</a:t>
            </a:r>
            <a:r>
              <a:rPr lang="en" sz="1050">
                <a:solidFill>
                  <a:srgbClr val="D4D4D4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50">
                <a:solidFill>
                  <a:srgbClr val="C8C8C8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egyptSocket</a:t>
            </a:r>
            <a:r>
              <a:rPr lang="en" sz="1050">
                <a:solidFill>
                  <a:srgbClr val="D4D4D4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2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216" name="Google Shape;216;p37"/>
          <p:cNvSpPr txBox="1"/>
          <p:nvPr/>
        </p:nvSpPr>
        <p:spPr>
          <a:xfrm>
            <a:off x="1182600" y="215525"/>
            <a:ext cx="67788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Shape </a:t>
            </a:r>
            <a:r>
              <a:rPr lang="en" sz="3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Compatibility</a:t>
            </a:r>
            <a:r>
              <a:rPr lang="en" sz="3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example</a:t>
            </a:r>
            <a:endParaRPr sz="32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New Operating System Design Pitch Deck  Infographics by Slidesgo">
  <a:themeElements>
    <a:clrScheme name="Simple Light">
      <a:dk1>
        <a:srgbClr val="FFFFFF"/>
      </a:dk1>
      <a:lt1>
        <a:srgbClr val="2D323C"/>
      </a:lt1>
      <a:dk2>
        <a:srgbClr val="242830"/>
      </a:dk2>
      <a:lt2>
        <a:srgbClr val="FFDB5D"/>
      </a:lt2>
      <a:accent1>
        <a:srgbClr val="94EE6B"/>
      </a:accent1>
      <a:accent2>
        <a:srgbClr val="E81981"/>
      </a:accent2>
      <a:accent3>
        <a:srgbClr val="BD64B5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